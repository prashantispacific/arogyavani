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685800"/>
            <a:ext cx="3474720" cy="329184"/>
          </a:xfrm>
          <a:prstGeom prst="roundRect">
            <a:avLst/>
          </a:prstGeom>
          <a:solidFill>
            <a:srgbClr val="121E34"/>
          </a:solidFill>
          <a:ln>
            <a:solidFill>
              <a:srgbClr val="2D4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0B981"/>
                </a:solidFill>
                <a:latin typeface="Segoe UI"/>
              </a:defRPr>
            </a:pPr>
            <a:r>
              <a:t>BIT N BUILD '26  •  HEALTHTECH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Segoe UI"/>
              </a:defRPr>
            </a:pPr>
            <a:r>
              <a:t>आरोग्यवाणी (AarogyaVani)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57400"/>
            <a:ext cx="1069848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000" b="1">
                <a:solidFill>
                  <a:srgbClr val="06B6D4"/>
                </a:solidFill>
                <a:latin typeface="Segoe UI"/>
              </a:defRPr>
            </a:pPr>
            <a:r>
              <a:t>Voice-First AI Clinical Triage &amp; Referral Assistant for Rural Healthcare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69848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50">
                <a:solidFill>
                  <a:srgbClr val="E2E8F0"/>
                </a:solidFill>
                <a:latin typeface="Segoe UI"/>
              </a:defRPr>
            </a:pPr>
            <a:r>
              <a:t>Empowering 850M+ rural citizens and 1M+ frontline ASHA workers with instant spoken-symptom triage, deterministic emergency safety gates, and verified digital referrals.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83280"/>
            <a:ext cx="3328416" cy="210312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6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3383280"/>
            <a:ext cx="3054096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657600"/>
            <a:ext cx="2871216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t>🎙️ Vernacular Voice-First</a:t>
            </a:r>
          </a:p>
          <a:p>
            <a:pPr>
              <a:defRPr sz="1250">
                <a:solidFill>
                  <a:srgbClr val="E2E8F0"/>
                </a:solidFill>
                <a:latin typeface="Segoe UI"/>
              </a:defRPr>
            </a:pPr>
            <a:r>
              <a:t>Spoken symptoms in 5 regional Indian languages with natural, reassuring audio playback.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5029200"/>
            <a:ext cx="2011680" cy="310896"/>
          </a:xfrm>
          <a:prstGeom prst="roundRect">
            <a:avLst/>
          </a:prstGeom>
          <a:solidFill>
            <a:srgbClr val="101A2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0B981"/>
                </a:solidFill>
              </a:defRPr>
            </a:pPr>
            <a:r>
              <a:t>5 LANGUAGES SUPPORTED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5696" y="3383280"/>
            <a:ext cx="3328416" cy="210312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6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62856" y="3383280"/>
            <a:ext cx="3054096" cy="54864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54296" y="3657600"/>
            <a:ext cx="2871216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EF4444"/>
                </a:solidFill>
                <a:latin typeface="Segoe UI"/>
              </a:defRPr>
            </a:pPr>
            <a:r>
              <a:t>🛡️ &lt;100ms Deterministic Gate</a:t>
            </a:r>
          </a:p>
          <a:p>
            <a:pPr>
              <a:defRPr sz="1250">
                <a:solidFill>
                  <a:srgbClr val="E2E8F0"/>
                </a:solidFill>
                <a:latin typeface="Segoe UI"/>
              </a:defRPr>
            </a:pPr>
            <a:r>
              <a:t>Rule-based emergency bypass eliminates LLM hallucination for critical life threats.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54296" y="5029200"/>
            <a:ext cx="2011680" cy="310896"/>
          </a:xfrm>
          <a:prstGeom prst="roundRect">
            <a:avLst/>
          </a:prstGeom>
          <a:solidFill>
            <a:srgbClr val="101A2C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EF4444"/>
                </a:solidFill>
              </a:defRPr>
            </a:pPr>
            <a:r>
              <a:t>&lt; 100MS LATENCY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3383280"/>
            <a:ext cx="3328416" cy="210312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6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57032" y="3383280"/>
            <a:ext cx="3054096" cy="5486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472" y="3657600"/>
            <a:ext cx="2871216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  <a:latin typeface="Segoe UI"/>
              </a:defRPr>
            </a:pPr>
            <a:r>
              <a:t>📋 ASHA Clinical Copilot</a:t>
            </a:r>
          </a:p>
          <a:p>
            <a:pPr>
              <a:defRPr sz="1250">
                <a:solidFill>
                  <a:srgbClr val="E2E8F0"/>
                </a:solidFill>
                <a:latin typeface="Segoe UI"/>
              </a:defRPr>
            </a:pPr>
            <a:r>
              <a:t>Doorstep vitals logging, prescription OCR &amp; verified PHC referral slips.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48472" y="5029200"/>
            <a:ext cx="2011680" cy="310896"/>
          </a:xfrm>
          <a:prstGeom prst="roundRect">
            <a:avLst/>
          </a:prstGeom>
          <a:solidFill>
            <a:srgbClr val="101A2C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</a:defRPr>
            </a:pPr>
            <a:r>
              <a:t>ABDM / NHM COMPLIANT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760720"/>
            <a:ext cx="10728655" cy="502920"/>
          </a:xfrm>
          <a:prstGeom prst="roundRect">
            <a:avLst/>
          </a:prstGeom>
          <a:solidFill>
            <a:srgbClr val="121C30"/>
          </a:solidFill>
          <a:ln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2E8F0"/>
                </a:solidFill>
                <a:latin typeface="Segoe UI"/>
              </a:defRPr>
            </a:pPr>
            <a:r>
              <a:t>Team LocalHost Boys (GDG HBTU): Prashant Gautam • Prathvi Goswami • Ankit Kumar • Love Gwal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291840" cy="292608"/>
          </a:xfrm>
          <a:prstGeom prst="roundRect">
            <a:avLst/>
          </a:prstGeom>
          <a:solidFill>
            <a:srgbClr val="121E34"/>
          </a:solidFill>
          <a:ln w="12700">
            <a:solidFill>
              <a:srgbClr val="2D4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GROUND REALITY &amp; CLINICAL CONTEXT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62895" y="384048"/>
            <a:ext cx="1097280" cy="292608"/>
          </a:xfrm>
          <a:prstGeom prst="roundRect">
            <a:avLst/>
          </a:prstGeom>
          <a:solidFill>
            <a:srgbClr val="121E34"/>
          </a:solidFill>
          <a:ln w="12700">
            <a:solidFill>
              <a:srgbClr val="2D4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02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The Problem: The Rural Indian Healthcare Trilemma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9844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Over 850 million rural citizens face an acute lack of timely, accessible medical triage.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3328416" cy="42976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6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783080"/>
            <a:ext cx="3054096" cy="54864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57400"/>
            <a:ext cx="2871216" cy="3749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EF4444"/>
                </a:solidFill>
                <a:latin typeface="Segoe UI"/>
              </a:defRPr>
            </a:pPr>
            <a:r>
              <a:t>1 : 25,000</a:t>
            </a:r>
          </a:p>
          <a:p>
            <a:pPr>
              <a:spcAft>
                <a:spcPts val="1800"/>
              </a:spcAft>
              <a:defRPr sz="1700" b="1">
                <a:solidFill>
                  <a:srgbClr val="FFFFFF"/>
                </a:solidFill>
                <a:latin typeface="Segoe UI"/>
              </a:defRPr>
            </a:pPr>
            <a:r>
              <a:t>Extreme Doctor Scarcity</a:t>
            </a:r>
          </a:p>
          <a:p>
            <a:pPr>
              <a:spcAft>
                <a:spcPts val="12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▸  25× worse than WHO benchmark (1:1,000)</a:t>
            </a:r>
          </a:p>
          <a:p>
            <a:pPr>
              <a:spcAft>
                <a:spcPts val="12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▸  40+ km average travel to nearest hospital</a:t>
            </a:r>
          </a:p>
          <a:p>
            <a:pPr>
              <a:spcAft>
                <a:spcPts val="12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▸  Delayed arrivals turn mild illness into critical sepsis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5440680"/>
            <a:ext cx="2011680" cy="310896"/>
          </a:xfrm>
          <a:prstGeom prst="roundRect">
            <a:avLst/>
          </a:prstGeom>
          <a:solidFill>
            <a:srgbClr val="101A2C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EF4444"/>
                </a:solidFill>
              </a:defRPr>
            </a:pPr>
            <a:r>
              <a:t>CRITICAL SHORTAGE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5696" y="1783080"/>
            <a:ext cx="3328416" cy="42976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6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62856" y="1783080"/>
            <a:ext cx="3054096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54296" y="2057400"/>
            <a:ext cx="2871216" cy="3749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F59E0B"/>
                </a:solidFill>
                <a:latin typeface="Segoe UI"/>
              </a:defRPr>
            </a:pPr>
            <a:r>
              <a:t>850M+</a:t>
            </a:r>
          </a:p>
          <a:p>
            <a:pPr>
              <a:spcAft>
                <a:spcPts val="1800"/>
              </a:spcAft>
              <a:defRPr sz="1700" b="1">
                <a:solidFill>
                  <a:srgbClr val="FFFFFF"/>
                </a:solidFill>
                <a:latin typeface="Segoe UI"/>
              </a:defRPr>
            </a:pPr>
            <a:r>
              <a:t>Language &amp; Literacy Barrier</a:t>
            </a:r>
          </a:p>
          <a:p>
            <a:pPr>
              <a:spcAft>
                <a:spcPts val="12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▸  Typing medical symptoms fails low-literacy users</a:t>
            </a:r>
          </a:p>
          <a:p>
            <a:pPr>
              <a:spcAft>
                <a:spcPts val="12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▸  Hundreds of vernacular dialects &amp; colloquial terms</a:t>
            </a:r>
          </a:p>
          <a:p>
            <a:pPr>
              <a:spcAft>
                <a:spcPts val="12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▸  Handwritten prescriptions frequently lost or illegible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54296" y="5440680"/>
            <a:ext cx="2011680" cy="310896"/>
          </a:xfrm>
          <a:prstGeom prst="roundRect">
            <a:avLst/>
          </a:prstGeom>
          <a:solidFill>
            <a:srgbClr val="101A2C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59E0B"/>
                </a:solidFill>
              </a:defRPr>
            </a:pPr>
            <a:r>
              <a:t>ACCESSIBILITY GAP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1783080"/>
            <a:ext cx="3328416" cy="42976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6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57032" y="1783080"/>
            <a:ext cx="3054096" cy="5486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472" y="2057400"/>
            <a:ext cx="2871216" cy="3749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06B6D4"/>
                </a:solidFill>
                <a:latin typeface="Segoe UI"/>
              </a:defRPr>
            </a:pPr>
            <a:r>
              <a:t>1 Million+</a:t>
            </a:r>
          </a:p>
          <a:p>
            <a:pPr>
              <a:spcAft>
                <a:spcPts val="1800"/>
              </a:spcAft>
              <a:defRPr sz="1700" b="1">
                <a:solidFill>
                  <a:srgbClr val="FFFFFF"/>
                </a:solidFill>
                <a:latin typeface="Segoe UI"/>
              </a:defRPr>
            </a:pPr>
            <a:r>
              <a:t>Overburdened ASHA Workers</a:t>
            </a:r>
          </a:p>
          <a:p>
            <a:pPr>
              <a:spcAft>
                <a:spcPts val="12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▸  Backbone of rural health carries heavy paper registers</a:t>
            </a:r>
          </a:p>
          <a:p>
            <a:pPr>
              <a:spcAft>
                <a:spcPts val="12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▸  Zero clinical triage decision-support at doorsteps</a:t>
            </a:r>
          </a:p>
          <a:p>
            <a:pPr>
              <a:spcAft>
                <a:spcPts val="12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▸  Doctors receive unstructured, verbal referrals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48472" y="5440680"/>
            <a:ext cx="2011680" cy="310896"/>
          </a:xfrm>
          <a:prstGeom prst="roundRect">
            <a:avLst/>
          </a:prstGeom>
          <a:solidFill>
            <a:srgbClr val="101A2C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</a:defRPr>
            </a:pPr>
            <a:r>
              <a:t>OPERATIONAL BOTTLENECK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291840" cy="292608"/>
          </a:xfrm>
          <a:prstGeom prst="roundRect">
            <a:avLst/>
          </a:prstGeom>
          <a:solidFill>
            <a:srgbClr val="121E34"/>
          </a:solidFill>
          <a:ln w="12700">
            <a:solidFill>
              <a:srgbClr val="2D4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INNOVATION &amp; VALUE PROPOSITION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62895" y="384048"/>
            <a:ext cx="1097280" cy="292608"/>
          </a:xfrm>
          <a:prstGeom prst="roundRect">
            <a:avLst/>
          </a:prstGeom>
          <a:solidFill>
            <a:srgbClr val="121E34"/>
          </a:solidFill>
          <a:ln w="12700">
            <a:solidFill>
              <a:srgbClr val="2D4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03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The Solution: What is AarogyaVani?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9844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A dual-engine platform designed for rural simplicity and clinical-grade reliability.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5175504" cy="42976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6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783080"/>
            <a:ext cx="4901184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57400"/>
            <a:ext cx="4535424" cy="3474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600"/>
              </a:spcAft>
              <a:defRPr sz="1800" b="1">
                <a:solidFill>
                  <a:srgbClr val="10B981"/>
                </a:solidFill>
              </a:defRPr>
            </a:pPr>
            <a:r>
              <a:t>💡 For Patients &amp; Community Health (Human-Centric)</a:t>
            </a:r>
          </a:p>
          <a:p>
            <a:pPr>
              <a:spcAft>
                <a:spcPts val="1200"/>
              </a:spcAft>
              <a:defRPr sz="1350" b="1">
                <a:solidFill>
                  <a:srgbClr val="FFFFFF"/>
                </a:solidFill>
              </a:defRPr>
            </a:pPr>
            <a:r>
              <a:t>✔  Speak Symptoms Naturally:  </a:t>
            </a:r>
            <a:r>
              <a:rPr b="0" sz="1200">
                <a:solidFill>
                  <a:srgbClr val="E2E8F0"/>
                </a:solidFill>
              </a:rPr>
              <a:t>Press one microphone button and describe issues in mother tongue—zero typing.</a:t>
            </a:r>
          </a:p>
          <a:p>
            <a:pPr>
              <a:spcAft>
                <a:spcPts val="1200"/>
              </a:spcAft>
              <a:defRPr sz="1350" b="1">
                <a:solidFill>
                  <a:srgbClr val="FFFFFF"/>
                </a:solidFill>
              </a:defRPr>
            </a:pPr>
            <a:r>
              <a:t>✔  5 Regional Indian Languages:  </a:t>
            </a:r>
            <a:r>
              <a:rPr b="0" sz="1200">
                <a:solidFill>
                  <a:srgbClr val="E2E8F0"/>
                </a:solidFill>
              </a:rPr>
              <a:t>Native understanding of Hindi, Bengali, Telugu, Marathi, and English idioms.</a:t>
            </a:r>
          </a:p>
          <a:p>
            <a:pPr>
              <a:spcAft>
                <a:spcPts val="1200"/>
              </a:spcAft>
              <a:defRPr sz="1350" b="1">
                <a:solidFill>
                  <a:srgbClr val="FFFFFF"/>
                </a:solidFill>
              </a:defRPr>
            </a:pPr>
            <a:r>
              <a:t>✔  Instant Life-Threat Alert:  </a:t>
            </a:r>
            <a:r>
              <a:rPr b="0" sz="1200">
                <a:solidFill>
                  <a:srgbClr val="E2E8F0"/>
                </a:solidFill>
              </a:rPr>
              <a:t>Detects heart attacks, stroke signs, or severe trauma in &lt;100ms with 108 hotline.</a:t>
            </a:r>
          </a:p>
          <a:p>
            <a:pPr>
              <a:spcAft>
                <a:spcPts val="1200"/>
              </a:spcAft>
              <a:defRPr sz="1350" b="1">
                <a:solidFill>
                  <a:srgbClr val="FFFFFF"/>
                </a:solidFill>
              </a:defRPr>
            </a:pPr>
            <a:r>
              <a:t>✔  Spoken Voice Guidance:  </a:t>
            </a:r>
            <a:r>
              <a:rPr b="0" sz="1200">
                <a:solidFill>
                  <a:srgbClr val="E2E8F0"/>
                </a:solidFill>
              </a:rPr>
              <a:t>Reads out clear home-care remedies and instructions so illiterate patients stay guided.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5440680"/>
            <a:ext cx="2926080" cy="310896"/>
          </a:xfrm>
          <a:prstGeom prst="roundRect">
            <a:avLst/>
          </a:prstGeom>
          <a:solidFill>
            <a:srgbClr val="101A2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0B981"/>
                </a:solidFill>
              </a:defRPr>
            </a:pPr>
            <a:r>
              <a:t>EMPOWERING 850M+ CITIZENS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2784" y="1783080"/>
            <a:ext cx="5175504" cy="42976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6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9944" y="1783080"/>
            <a:ext cx="4901184" cy="54864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92824" y="2057400"/>
            <a:ext cx="4535424" cy="3474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600"/>
              </a:spcAft>
              <a:defRPr sz="1800" b="1">
                <a:solidFill>
                  <a:srgbClr val="3B82F6"/>
                </a:solidFill>
              </a:defRPr>
            </a:pPr>
            <a:r>
              <a:t>⚡ For Technical Evaluators &amp; Architects (High-Reliability)</a:t>
            </a:r>
          </a:p>
          <a:p>
            <a:pPr>
              <a:spcAft>
                <a:spcPts val="1200"/>
              </a:spcAft>
              <a:defRPr sz="1350" b="1">
                <a:solidFill>
                  <a:srgbClr val="FFFFFF"/>
                </a:solidFill>
              </a:defRPr>
            </a:pPr>
            <a:r>
              <a:t>⚡  Multi-Model Pipeline:  </a:t>
            </a:r>
            <a:r>
              <a:rPr b="0" sz="1200">
                <a:solidFill>
                  <a:srgbClr val="E2E8F0"/>
                </a:solidFill>
              </a:rPr>
              <a:t>Sarvam Saaras v4 (ASR) + Gemini 2.5 Flash (Triage) + Sarvam Bulbul v3 (TTS).</a:t>
            </a:r>
          </a:p>
          <a:p>
            <a:pPr>
              <a:spcAft>
                <a:spcPts val="1200"/>
              </a:spcAft>
              <a:defRPr sz="1350" b="1">
                <a:solidFill>
                  <a:srgbClr val="FFFFFF"/>
                </a:solidFill>
              </a:defRPr>
            </a:pPr>
            <a:r>
              <a:t>⚡  Zero-Hallucination Safety Gate:  </a:t>
            </a:r>
            <a:r>
              <a:rPr b="0" sz="1200">
                <a:solidFill>
                  <a:srgbClr val="E2E8F0"/>
                </a:solidFill>
              </a:rPr>
              <a:t>Deterministic regex scans emergency keywords before LLM inference occurs.</a:t>
            </a:r>
          </a:p>
          <a:p>
            <a:pPr>
              <a:spcAft>
                <a:spcPts val="1200"/>
              </a:spcAft>
              <a:defRPr sz="1350" b="1">
                <a:solidFill>
                  <a:srgbClr val="FFFFFF"/>
                </a:solidFill>
              </a:defRPr>
            </a:pPr>
            <a:r>
              <a:t>⚡  Multimodal Prescription OCR:  </a:t>
            </a:r>
            <a:r>
              <a:rPr b="0" sz="1200">
                <a:solidFill>
                  <a:srgbClr val="E2E8F0"/>
                </a:solidFill>
              </a:rPr>
              <a:t>Gemini 2.5 Vision digitizes handwritten slips with human-in-the-loop editing.</a:t>
            </a:r>
          </a:p>
          <a:p>
            <a:pPr>
              <a:spcAft>
                <a:spcPts val="1200"/>
              </a:spcAft>
              <a:defRPr sz="1350" b="1">
                <a:solidFill>
                  <a:srgbClr val="FFFFFF"/>
                </a:solidFill>
              </a:defRPr>
            </a:pPr>
            <a:r>
              <a:t>⚡  Zero PII Footprint:  </a:t>
            </a:r>
            <a:r>
              <a:rPr b="0" sz="1200">
                <a:solidFill>
                  <a:srgbClr val="E2E8F0"/>
                </a:solidFill>
              </a:rPr>
              <a:t>Stateless, privacy-first design adhering to Ayushman Bharat Digital Mission (ABDM).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92824" y="5440680"/>
            <a:ext cx="2926080" cy="310896"/>
          </a:xfrm>
          <a:prstGeom prst="roundRect">
            <a:avLst/>
          </a:prstGeom>
          <a:solidFill>
            <a:srgbClr val="101A2C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B82F6"/>
                </a:solidFill>
              </a:defRPr>
            </a:pPr>
            <a:r>
              <a:t>SUB-SECOND MULTI-MODEL STACK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291840" cy="292608"/>
          </a:xfrm>
          <a:prstGeom prst="roundRect">
            <a:avLst/>
          </a:prstGeom>
          <a:solidFill>
            <a:srgbClr val="121E34"/>
          </a:solidFill>
          <a:ln w="12700">
            <a:solidFill>
              <a:srgbClr val="2D4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USER-CENTRIC CLINICAL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62895" y="384048"/>
            <a:ext cx="1097280" cy="292608"/>
          </a:xfrm>
          <a:prstGeom prst="roundRect">
            <a:avLst/>
          </a:prstGeom>
          <a:solidFill>
            <a:srgbClr val="121E34"/>
          </a:solidFill>
          <a:ln w="12700">
            <a:solidFill>
              <a:srgbClr val="2D4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04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Dual-Persona Interface: Citizen vs. ASHA Mode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9844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One unified platform serving both illiterate villagers and frontline healthcare workers.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5175504" cy="42976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6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783080"/>
            <a:ext cx="4901184" cy="5486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57400"/>
            <a:ext cx="4535424" cy="3474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600"/>
              </a:spcAft>
              <a:defRPr sz="1800" b="1">
                <a:solidFill>
                  <a:srgbClr val="06B6D4"/>
                </a:solidFill>
              </a:defRPr>
            </a:pPr>
            <a:r>
              <a:t>👤 Citizen / Patient Mode (मरीज़)</a:t>
            </a:r>
          </a:p>
          <a:p>
            <a:pPr>
              <a:spcAft>
                <a:spcPts val="1200"/>
              </a:spcAft>
              <a:defRPr sz="1350" b="1">
                <a:solidFill>
                  <a:srgbClr val="FFFFFF"/>
                </a:solidFill>
              </a:defRPr>
            </a:pPr>
            <a:r>
              <a:t>▸  Target User:  </a:t>
            </a:r>
            <a:r>
              <a:rPr b="0" sz="1200">
                <a:solidFill>
                  <a:srgbClr val="E2E8F0"/>
                </a:solidFill>
              </a:rPr>
              <a:t>Rural villagers, elderly patients, low-literacy citizens seeking home triage.</a:t>
            </a:r>
          </a:p>
          <a:p>
            <a:pPr>
              <a:spcAft>
                <a:spcPts val="1200"/>
              </a:spcAft>
              <a:defRPr sz="1350" b="1">
                <a:solidFill>
                  <a:srgbClr val="FFFFFF"/>
                </a:solidFill>
              </a:defRPr>
            </a:pPr>
            <a:r>
              <a:t>▸  Effortless Intake:  </a:t>
            </a:r>
            <a:r>
              <a:rPr b="0" sz="1200">
                <a:solidFill>
                  <a:srgbClr val="E2E8F0"/>
                </a:solidFill>
              </a:rPr>
              <a:t>1-tap audio record button or visual touch body map (Head, Chest, Stomach).</a:t>
            </a:r>
          </a:p>
          <a:p>
            <a:pPr>
              <a:spcAft>
                <a:spcPts val="1200"/>
              </a:spcAft>
              <a:defRPr sz="1350" b="1">
                <a:solidFill>
                  <a:srgbClr val="FFFFFF"/>
                </a:solidFill>
              </a:defRPr>
            </a:pPr>
            <a:r>
              <a:t>▸  Traffic-Light Result:  </a:t>
            </a:r>
            <a:r>
              <a:rPr b="0" sz="1200">
                <a:solidFill>
                  <a:srgbClr val="E2E8F0"/>
                </a:solidFill>
              </a:rPr>
              <a:t>Clear Red, Yellow, or Green status badge with plain-language explanation.</a:t>
            </a:r>
          </a:p>
          <a:p>
            <a:pPr>
              <a:spcAft>
                <a:spcPts val="1200"/>
              </a:spcAft>
              <a:defRPr sz="1350" b="1">
                <a:solidFill>
                  <a:srgbClr val="FFFFFF"/>
                </a:solidFill>
              </a:defRPr>
            </a:pPr>
            <a:r>
              <a:t>▸  Spoken Guidance:  </a:t>
            </a:r>
            <a:r>
              <a:rPr b="0" sz="1200">
                <a:solidFill>
                  <a:srgbClr val="E2E8F0"/>
                </a:solidFill>
              </a:rPr>
              <a:t>Plays friendly audio advice in native tongue—no reading required.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5440680"/>
            <a:ext cx="4206240" cy="310896"/>
          </a:xfrm>
          <a:prstGeom prst="roundRect">
            <a:avLst/>
          </a:prstGeom>
          <a:solidFill>
            <a:srgbClr val="101A2C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</a:defRPr>
            </a:pPr>
            <a:r>
              <a:t>✨ IMPACT: CUTS 75% UNNECESSARY HOSPITAL TRAVEL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2784" y="1783080"/>
            <a:ext cx="5175504" cy="42976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6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9944" y="1783080"/>
            <a:ext cx="4901184" cy="5486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92824" y="2057400"/>
            <a:ext cx="4535424" cy="3474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600"/>
              </a:spcAft>
              <a:defRPr sz="1800" b="1">
                <a:solidFill>
                  <a:srgbClr val="6366F1"/>
                </a:solidFill>
              </a:defRPr>
            </a:pPr>
            <a:r>
              <a:t>👩‍⚕️ ASHA Health Worker Mode (आशा)</a:t>
            </a:r>
          </a:p>
          <a:p>
            <a:pPr>
              <a:spcAft>
                <a:spcPts val="1200"/>
              </a:spcAft>
              <a:defRPr sz="1350" b="1">
                <a:solidFill>
                  <a:srgbClr val="FFFFFF"/>
                </a:solidFill>
              </a:defRPr>
            </a:pPr>
            <a:r>
              <a:t>▸  Target User:  </a:t>
            </a:r>
            <a:r>
              <a:rPr b="0" sz="1200">
                <a:solidFill>
                  <a:srgbClr val="E2E8F0"/>
                </a:solidFill>
              </a:rPr>
              <a:t>Accredited Social Health Activists conducting home visits and screening rounds.</a:t>
            </a:r>
          </a:p>
          <a:p>
            <a:pPr>
              <a:spcAft>
                <a:spcPts val="1200"/>
              </a:spcAft>
              <a:defRPr sz="1350" b="1">
                <a:solidFill>
                  <a:srgbClr val="FFFFFF"/>
                </a:solidFill>
              </a:defRPr>
            </a:pPr>
            <a:r>
              <a:t>▸  Vitals &amp; History:  </a:t>
            </a:r>
            <a:r>
              <a:rPr b="0" sz="1200">
                <a:solidFill>
                  <a:srgbClr val="E2E8F0"/>
                </a:solidFill>
              </a:rPr>
              <a:t>Record Blood Pressure, SpO2, Pulse, Temperature, and patient demographics.</a:t>
            </a:r>
          </a:p>
          <a:p>
            <a:pPr>
              <a:spcAft>
                <a:spcPts val="1200"/>
              </a:spcAft>
              <a:defRPr sz="1350" b="1">
                <a:solidFill>
                  <a:srgbClr val="FFFFFF"/>
                </a:solidFill>
              </a:defRPr>
            </a:pPr>
            <a:r>
              <a:t>▸  Referral Slips:  </a:t>
            </a:r>
            <a:r>
              <a:rPr b="0" sz="1200">
                <a:solidFill>
                  <a:srgbClr val="E2E8F0"/>
                </a:solidFill>
              </a:rPr>
              <a:t>Generates official, formatted PHC referral card with ASHA verification badge.</a:t>
            </a:r>
          </a:p>
          <a:p>
            <a:pPr>
              <a:spcAft>
                <a:spcPts val="1200"/>
              </a:spcAft>
              <a:defRPr sz="1350" b="1">
                <a:solidFill>
                  <a:srgbClr val="FFFFFF"/>
                </a:solidFill>
              </a:defRPr>
            </a:pPr>
            <a:r>
              <a:t>▸  Offline-First Flow:  </a:t>
            </a:r>
            <a:r>
              <a:rPr b="0" sz="1200">
                <a:solidFill>
                  <a:srgbClr val="E2E8F0"/>
                </a:solidFill>
              </a:rPr>
              <a:t>Logs beneficiary visits locally on mobile device and syncs when back online.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92824" y="5440680"/>
            <a:ext cx="4206240" cy="310896"/>
          </a:xfrm>
          <a:prstGeom prst="roundRect">
            <a:avLst/>
          </a:prstGeom>
          <a:solidFill>
            <a:srgbClr val="101A2C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366F1"/>
                </a:solidFill>
              </a:defRPr>
            </a:pPr>
            <a:r>
              <a:t>✨ IMPACT: SAVES 4+ HOURS DAILY IN MANUAL LOGGING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291840" cy="292608"/>
          </a:xfrm>
          <a:prstGeom prst="roundRect">
            <a:avLst/>
          </a:prstGeom>
          <a:solidFill>
            <a:srgbClr val="121E34"/>
          </a:solidFill>
          <a:ln w="12700">
            <a:solidFill>
              <a:srgbClr val="2D4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THE CLINICAL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62895" y="384048"/>
            <a:ext cx="1097280" cy="292608"/>
          </a:xfrm>
          <a:prstGeom prst="roundRect">
            <a:avLst/>
          </a:prstGeom>
          <a:solidFill>
            <a:srgbClr val="121E34"/>
          </a:solidFill>
          <a:ln w="12700">
            <a:solidFill>
              <a:srgbClr val="2D4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05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End-to-End System Flow: From Voice Note to Referral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9844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A 4-stage pipeline combining deterministic instant safety with multimodal intelligence.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2450592" cy="42976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6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783080"/>
            <a:ext cx="2176272" cy="5486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2084832" cy="35661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6B6D4"/>
                </a:solidFill>
                <a:latin typeface="Segoe UI"/>
              </a:defRPr>
            </a:pPr>
            <a:r>
              <a:t>STEP 01</a:t>
            </a:r>
          </a:p>
          <a:p>
            <a:pPr>
              <a:spcAft>
                <a:spcPts val="1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Multimodal Intake</a:t>
            </a:r>
          </a:p>
          <a:p>
            <a:pPr>
              <a:spcAft>
                <a:spcPts val="12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▸ Voice input in 5 languages</a:t>
            </a:r>
          </a:p>
          <a:p>
            <a:pPr>
              <a:spcAft>
                <a:spcPts val="12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▸ Touch body-part map</a:t>
            </a:r>
          </a:p>
          <a:p>
            <a:pPr>
              <a:spcAft>
                <a:spcPts val="12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▸ Prescription photo scan</a:t>
            </a:r>
          </a:p>
          <a:p>
            <a:pPr>
              <a:spcAft>
                <a:spcPts val="12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▸ Clinical vitals logging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440680"/>
            <a:ext cx="2084832" cy="310896"/>
          </a:xfrm>
          <a:prstGeom prst="roundRect">
            <a:avLst/>
          </a:prstGeom>
          <a:solidFill>
            <a:srgbClr val="101A2C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</a:defRPr>
            </a:pPr>
            <a:r>
              <a:t>MULTIMODAL INTAKE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2112" y="3429000"/>
            <a:ext cx="31089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5A78A0"/>
                </a:solidFill>
              </a:defRPr>
            </a:pPr>
            <a:r>
              <a:t>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93008" y="1783080"/>
            <a:ext cx="2450592" cy="42976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6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30168" y="1783080"/>
            <a:ext cx="2176272" cy="54864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5888" y="2011680"/>
            <a:ext cx="2084832" cy="35661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EF4444"/>
                </a:solidFill>
                <a:latin typeface="Segoe UI"/>
              </a:defRPr>
            </a:pPr>
            <a:r>
              <a:t>STEP 02</a:t>
            </a:r>
          </a:p>
          <a:p>
            <a:pPr>
              <a:spcAft>
                <a:spcPts val="1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Deterministic Gate</a:t>
            </a:r>
          </a:p>
          <a:p>
            <a:pPr>
              <a:spcAft>
                <a:spcPts val="12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▸ &lt;100ms Regex evaluation</a:t>
            </a:r>
          </a:p>
          <a:p>
            <a:pPr>
              <a:spcAft>
                <a:spcPts val="12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▸ 15+ lethal red-flags checked</a:t>
            </a:r>
          </a:p>
          <a:p>
            <a:pPr>
              <a:spcAft>
                <a:spcPts val="12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▸ Zero LLM latency/hallucination</a:t>
            </a:r>
          </a:p>
          <a:p>
            <a:pPr>
              <a:spcAft>
                <a:spcPts val="12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▸ Direct 108 Emergency lock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75888" y="5440680"/>
            <a:ext cx="2084832" cy="310896"/>
          </a:xfrm>
          <a:prstGeom prst="roundRect">
            <a:avLst/>
          </a:prstGeom>
          <a:solidFill>
            <a:srgbClr val="101A2C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EF4444"/>
                </a:solidFill>
              </a:defRPr>
            </a:pPr>
            <a:r>
              <a:t>&lt; 100MS FAILSAFE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429000"/>
            <a:ext cx="31089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5A78A0"/>
                </a:solidFill>
              </a:defRPr>
            </a:pPr>
            <a:r>
              <a:t>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54496" y="1783080"/>
            <a:ext cx="2450592" cy="42976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6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91656" y="1783080"/>
            <a:ext cx="2176272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37376" y="2011680"/>
            <a:ext cx="2084832" cy="35661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59E0B"/>
                </a:solidFill>
                <a:latin typeface="Segoe UI"/>
              </a:defRPr>
            </a:pPr>
            <a:r>
              <a:t>STEP 03</a:t>
            </a:r>
          </a:p>
          <a:p>
            <a:pPr>
              <a:spcAft>
                <a:spcPts val="1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AI Risk Triage</a:t>
            </a:r>
          </a:p>
          <a:p>
            <a:pPr>
              <a:spcAft>
                <a:spcPts val="12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▸ Gemini 2.5 Flash reasoning</a:t>
            </a:r>
          </a:p>
          <a:p>
            <a:pPr>
              <a:spcAft>
                <a:spcPts val="12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▸ WHO IMNCI triage protocol</a:t>
            </a:r>
          </a:p>
          <a:p>
            <a:pPr>
              <a:spcAft>
                <a:spcPts val="12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▸ Stratified: Red/Yellow/Green</a:t>
            </a:r>
          </a:p>
          <a:p>
            <a:pPr>
              <a:spcAft>
                <a:spcPts val="12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▸ Explainable clinical rationale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37376" y="5440680"/>
            <a:ext cx="2084832" cy="310896"/>
          </a:xfrm>
          <a:prstGeom prst="roundRect">
            <a:avLst/>
          </a:prstGeom>
          <a:solidFill>
            <a:srgbClr val="101A2C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59E0B"/>
                </a:solidFill>
              </a:defRPr>
            </a:pPr>
            <a:r>
              <a:t>WHO IMNCI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05088" y="3429000"/>
            <a:ext cx="31089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5A78A0"/>
                </a:solidFill>
              </a:defRPr>
            </a:pPr>
            <a:r>
              <a:t>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15984" y="1783080"/>
            <a:ext cx="2450592" cy="42976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6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53144" y="1783080"/>
            <a:ext cx="2176272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98864" y="2011680"/>
            <a:ext cx="2084832" cy="35661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0B981"/>
                </a:solidFill>
                <a:latin typeface="Segoe UI"/>
              </a:defRPr>
            </a:pPr>
            <a:r>
              <a:t>STEP 04</a:t>
            </a:r>
          </a:p>
          <a:p>
            <a:pPr>
              <a:spcAft>
                <a:spcPts val="1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Vernacular Action</a:t>
            </a:r>
          </a:p>
          <a:p>
            <a:pPr>
              <a:spcAft>
                <a:spcPts val="12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▸ Sarvam Bulbul TTS speech</a:t>
            </a:r>
          </a:p>
          <a:p>
            <a:pPr>
              <a:spcAft>
                <a:spcPts val="12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▸ Dual-language display</a:t>
            </a:r>
          </a:p>
          <a:p>
            <a:pPr>
              <a:spcAft>
                <a:spcPts val="12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▸ Printable PHC referral slip</a:t>
            </a:r>
          </a:p>
          <a:p>
            <a:pPr>
              <a:spcAft>
                <a:spcPts val="12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▸ Actionable home-care steps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98864" y="5440680"/>
            <a:ext cx="2084832" cy="310896"/>
          </a:xfrm>
          <a:prstGeom prst="roundRect">
            <a:avLst/>
          </a:prstGeom>
          <a:solidFill>
            <a:srgbClr val="101A2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0B981"/>
                </a:solidFill>
              </a:defRPr>
            </a:pPr>
            <a:r>
              <a:t>VOICE &amp; SLIP OUT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291840" cy="292608"/>
          </a:xfrm>
          <a:prstGeom prst="roundRect">
            <a:avLst/>
          </a:prstGeom>
          <a:solidFill>
            <a:srgbClr val="121E34"/>
          </a:solidFill>
          <a:ln w="12700">
            <a:solidFill>
              <a:srgbClr val="2D4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TECHNICAL SPECIFICATIONS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62895" y="384048"/>
            <a:ext cx="1097280" cy="292608"/>
          </a:xfrm>
          <a:prstGeom prst="roundRect">
            <a:avLst/>
          </a:prstGeom>
          <a:solidFill>
            <a:srgbClr val="121E34"/>
          </a:solidFill>
          <a:ln w="12700">
            <a:solidFill>
              <a:srgbClr val="2D4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06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Architectural Pipeline: Production-Ready Serverless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9844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Decoupled, edge-accelerated architecture built for 99.9% uptime and sub-second responses.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3328416" cy="42976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6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783080"/>
            <a:ext cx="3054096" cy="5486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57400"/>
            <a:ext cx="2871216" cy="35661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600"/>
              </a:spcAft>
              <a:defRPr sz="1700" b="1">
                <a:solidFill>
                  <a:srgbClr val="06B6D4"/>
                </a:solidFill>
                <a:latin typeface="Segoe UI"/>
              </a:defRPr>
            </a:pPr>
            <a:r>
              <a:t>Frontend &amp; Client Edge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▸  Framework:  </a:t>
            </a:r>
            <a:r>
              <a:rPr b="0" sz="1200">
                <a:solidFill>
                  <a:srgbClr val="E2E8F0"/>
                </a:solidFill>
              </a:rPr>
              <a:t>React 19, TypeScript, Vite PWA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▸  Styling:  </a:t>
            </a:r>
            <a:r>
              <a:rPr b="0" sz="1200">
                <a:solidFill>
                  <a:srgbClr val="E2E8F0"/>
                </a:solidFill>
              </a:rPr>
              <a:t>Tailwind CSS, Lucide Icons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▸  Offline Cache:  </a:t>
            </a:r>
            <a:r>
              <a:rPr b="0" sz="1200">
                <a:solidFill>
                  <a:srgbClr val="E2E8F0"/>
                </a:solidFill>
              </a:rPr>
              <a:t>IndexedDB / LocalStorage Cache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▸  Audio Capture:  </a:t>
            </a:r>
            <a:r>
              <a:rPr b="0" sz="1200">
                <a:solidFill>
                  <a:srgbClr val="E2E8F0"/>
                </a:solidFill>
              </a:rPr>
              <a:t>Web MediaStream &amp; Web Audio 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5440680"/>
            <a:ext cx="2286000" cy="310896"/>
          </a:xfrm>
          <a:prstGeom prst="roundRect">
            <a:avLst/>
          </a:prstGeom>
          <a:solidFill>
            <a:srgbClr val="101A2C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</a:defRPr>
            </a:pPr>
            <a:r>
              <a:t>EDGE PWA CLIENT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5696" y="1783080"/>
            <a:ext cx="3328416" cy="42976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6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62856" y="1783080"/>
            <a:ext cx="3054096" cy="54864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54296" y="2057400"/>
            <a:ext cx="2871216" cy="35661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600"/>
              </a:spcAft>
              <a:defRPr sz="1700" b="1">
                <a:solidFill>
                  <a:srgbClr val="3B82F6"/>
                </a:solidFill>
                <a:latin typeface="Segoe UI"/>
              </a:defRPr>
            </a:pPr>
            <a:r>
              <a:t>Serverless API Gateway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▸  Runtime:  </a:t>
            </a:r>
            <a:r>
              <a:rPr b="0" sz="1200">
                <a:solidFill>
                  <a:srgbClr val="E2E8F0"/>
                </a:solidFill>
              </a:rPr>
              <a:t>Netlify Functions v2 (Node.js Edge)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▸  Security:  </a:t>
            </a:r>
            <a:r>
              <a:rPr b="0" sz="1200">
                <a:solidFill>
                  <a:srgbClr val="E2E8F0"/>
                </a:solidFill>
              </a:rPr>
              <a:t>Server-side secret storage; zero leaks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▸  Failover Ladder:  </a:t>
            </a:r>
            <a:r>
              <a:rPr b="0" sz="1200">
                <a:solidFill>
                  <a:srgbClr val="E2E8F0"/>
                </a:solidFill>
              </a:rPr>
              <a:t>Auto-switch between primary &amp; backup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▸  CORS &amp; Proxy:  </a:t>
            </a:r>
            <a:r>
              <a:rPr b="0" sz="1200">
                <a:solidFill>
                  <a:srgbClr val="E2E8F0"/>
                </a:solidFill>
              </a:rPr>
              <a:t>Streaming audio proxy with rate limits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54296" y="5440680"/>
            <a:ext cx="2286000" cy="310896"/>
          </a:xfrm>
          <a:prstGeom prst="roundRect">
            <a:avLst/>
          </a:prstGeom>
          <a:solidFill>
            <a:srgbClr val="101A2C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B82F6"/>
                </a:solidFill>
              </a:defRPr>
            </a:pPr>
            <a:r>
              <a:t>ZERO-SECRET LEAK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1783080"/>
            <a:ext cx="3328416" cy="42976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6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57032" y="1783080"/>
            <a:ext cx="3054096" cy="54864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472" y="2057400"/>
            <a:ext cx="2871216" cy="35661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600"/>
              </a:spcAft>
              <a:defRPr sz="1700" b="1">
                <a:solidFill>
                  <a:srgbClr val="A855F7"/>
                </a:solidFill>
                <a:latin typeface="Segoe UI"/>
              </a:defRPr>
            </a:pPr>
            <a:r>
              <a:t>Multi-Model AI Engine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▸  Speech-to-Text:  </a:t>
            </a:r>
            <a:r>
              <a:rPr b="0" sz="1200">
                <a:solidFill>
                  <a:srgbClr val="E2E8F0"/>
                </a:solidFill>
              </a:rPr>
              <a:t>Sarvam Saaras v4 ⇄ Gemini Audio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▸  Clinical Triage:  </a:t>
            </a:r>
            <a:r>
              <a:rPr b="0" sz="1200">
                <a:solidFill>
                  <a:srgbClr val="E2E8F0"/>
                </a:solidFill>
              </a:rPr>
              <a:t>Google Gemini 2.5 Flash (JSON schema)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▸  Text-to-Speech:  </a:t>
            </a:r>
            <a:r>
              <a:rPr b="0" sz="1200">
                <a:solidFill>
                  <a:srgbClr val="E2E8F0"/>
                </a:solidFill>
              </a:rPr>
              <a:t>Sarvam Bulbul v3 ⇄ Web Speech API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▸  Vision OCR:  </a:t>
            </a:r>
            <a:r>
              <a:rPr b="0" sz="1200">
                <a:solidFill>
                  <a:srgbClr val="E2E8F0"/>
                </a:solidFill>
              </a:rPr>
              <a:t>Gemini 2.5 Flash Vision Document AI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48472" y="5440680"/>
            <a:ext cx="2286000" cy="310896"/>
          </a:xfrm>
          <a:prstGeom prst="roundRect">
            <a:avLst/>
          </a:prstGeom>
          <a:solidFill>
            <a:srgbClr val="101A2C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A855F7"/>
                </a:solidFill>
              </a:defRPr>
            </a:pPr>
            <a:r>
              <a:t>SUB-SECOND INFERENCE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291840" cy="292608"/>
          </a:xfrm>
          <a:prstGeom prst="roundRect">
            <a:avLst/>
          </a:prstGeom>
          <a:solidFill>
            <a:srgbClr val="121E34"/>
          </a:solidFill>
          <a:ln w="12700">
            <a:solidFill>
              <a:srgbClr val="2D4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CLINICAL RISK MITIGATION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62895" y="384048"/>
            <a:ext cx="1097280" cy="292608"/>
          </a:xfrm>
          <a:prstGeom prst="roundRect">
            <a:avLst/>
          </a:prstGeom>
          <a:solidFill>
            <a:srgbClr val="121E34"/>
          </a:solidFill>
          <a:ln w="12700">
            <a:solidFill>
              <a:srgbClr val="2D4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07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Deterministic Safety Gates: Zero LLM Gambling in Emergencies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9844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Why life-threatening symptoms never wait for or depend on probabilistic AI models.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10728655" cy="594360"/>
          </a:xfrm>
          <a:prstGeom prst="roundRect">
            <a:avLst/>
          </a:prstGeom>
          <a:solidFill>
            <a:srgbClr val="281016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ECACA"/>
                </a:solidFill>
              </a:defRPr>
            </a:pPr>
            <a:r>
              <a:t>🚨 CLINICAL GOLD STANDARD: Any acute condition triggers an instant &lt;100ms emergency protocol, bypassing LLM processing entirely.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5175504" cy="352044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6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2560320"/>
            <a:ext cx="4901184" cy="54864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788920"/>
            <a:ext cx="4535424" cy="2788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EF4444"/>
                </a:solidFill>
              </a:defRPr>
            </a:pPr>
            <a:r>
              <a:t>🛑 Critical Danger Signs Detected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•  Cardiac Emergencies:  </a:t>
            </a:r>
            <a:r>
              <a:rPr b="0" sz="1200">
                <a:solidFill>
                  <a:srgbClr val="E2E8F0"/>
                </a:solidFill>
              </a:rPr>
              <a:t>Crushing chest pain, left-arm radiating pressure, cold sweating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•  Stroke &amp; Seizures:  </a:t>
            </a:r>
            <a:r>
              <a:rPr b="0" sz="1200">
                <a:solidFill>
                  <a:srgbClr val="E2E8F0"/>
                </a:solidFill>
              </a:rPr>
              <a:t>Facial drooping, slurred speech, active convulsions, loss of consciousness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•  Severe Hemorrhage:  </a:t>
            </a:r>
            <a:r>
              <a:rPr b="0" sz="1200">
                <a:solidFill>
                  <a:srgbClr val="E2E8F0"/>
                </a:solidFill>
              </a:rPr>
              <a:t>Uncontrolled arterial bleeding, major compound fractures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•  Pediatric Red Flags:  </a:t>
            </a:r>
            <a:r>
              <a:rPr b="0" sz="1200">
                <a:solidFill>
                  <a:srgbClr val="E2E8F0"/>
                </a:solidFill>
              </a:rPr>
              <a:t>Infant high fever with extreme lethargy, inability to nurse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5486400"/>
            <a:ext cx="2926080" cy="310896"/>
          </a:xfrm>
          <a:prstGeom prst="roundRect">
            <a:avLst/>
          </a:prstGeom>
          <a:solidFill>
            <a:srgbClr val="101A2C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EF4444"/>
                </a:solidFill>
              </a:defRPr>
            </a:pPr>
            <a:r>
              <a:t>IMMEDIATE 108 INTERVENTION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2784" y="2560320"/>
            <a:ext cx="5175504" cy="352044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6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9944" y="2560320"/>
            <a:ext cx="4901184" cy="5486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92824" y="2788920"/>
            <a:ext cx="4535424" cy="2788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06B6D4"/>
                </a:solidFill>
              </a:defRPr>
            </a:pPr>
            <a:r>
              <a:t>⚡ Instant Fail-Safe Execution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✔  &lt; 100ms Edge Execution:  </a:t>
            </a:r>
            <a:r>
              <a:rPr b="0" sz="1200">
                <a:solidFill>
                  <a:srgbClr val="E2E8F0"/>
                </a:solidFill>
              </a:rPr>
              <a:t>Client-side regex scans transcript before any API request is sent.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✔  Zero LLM Hallucination:  </a:t>
            </a:r>
            <a:r>
              <a:rPr b="0" sz="1200">
                <a:solidFill>
                  <a:srgbClr val="E2E8F0"/>
                </a:solidFill>
              </a:rPr>
              <a:t>Completely eliminates risk of AI downplaying a life-threatening symptom.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✔  One-Tap 108 Hotline:  </a:t>
            </a:r>
            <a:r>
              <a:rPr b="0" sz="1200">
                <a:solidFill>
                  <a:srgbClr val="E2E8F0"/>
                </a:solidFill>
              </a:rPr>
              <a:t>Screen locks to urgent red modal with direct ambulance dialer button.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✔  Loud Vernacular Audio:  </a:t>
            </a:r>
            <a:r>
              <a:rPr b="0" sz="1200">
                <a:solidFill>
                  <a:srgbClr val="E2E8F0"/>
                </a:solidFill>
              </a:rPr>
              <a:t>Automatically plays calm, authoritative emergency first-aid advice.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92824" y="5486400"/>
            <a:ext cx="2926080" cy="310896"/>
          </a:xfrm>
          <a:prstGeom prst="roundRect">
            <a:avLst/>
          </a:prstGeom>
          <a:solidFill>
            <a:srgbClr val="101A2C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</a:defRPr>
            </a:pPr>
            <a:r>
              <a:t>ZERO PROBABILISTIC GAMBLE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291840" cy="292608"/>
          </a:xfrm>
          <a:prstGeom prst="roundRect">
            <a:avLst/>
          </a:prstGeom>
          <a:solidFill>
            <a:srgbClr val="121E34"/>
          </a:solidFill>
          <a:ln w="12700">
            <a:solidFill>
              <a:srgbClr val="2D4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WHO IMNCI &amp; NHM TRIAGE TIERS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62895" y="384048"/>
            <a:ext cx="1097280" cy="292608"/>
          </a:xfrm>
          <a:prstGeom prst="roundRect">
            <a:avLst/>
          </a:prstGeom>
          <a:solidFill>
            <a:srgbClr val="121E34"/>
          </a:solidFill>
          <a:ln w="12700">
            <a:solidFill>
              <a:srgbClr val="2D4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08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Clinical Risk Stratification: Red / Yellow / Green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9844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Clear, actionable categories routing patients to the exact level of clinical care needed.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3328416" cy="42976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6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783080"/>
            <a:ext cx="3054096" cy="54864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57400"/>
            <a:ext cx="2871216" cy="35661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EF4444"/>
                </a:solidFill>
                <a:latin typeface="Segoe UI"/>
              </a:defRPr>
            </a:pPr>
            <a:r>
              <a:t>RED: EMERGENCY</a:t>
            </a:r>
          </a:p>
          <a:p>
            <a:pPr>
              <a:defRPr sz="1700" b="1">
                <a:solidFill>
                  <a:srgbClr val="FFFFFF"/>
                </a:solidFill>
                <a:latin typeface="Segoe UI"/>
              </a:defRPr>
            </a:pPr>
            <a:r>
              <a:t>Immediate Hospital / 108</a:t>
            </a:r>
          </a:p>
          <a:p>
            <a:pPr>
              <a:spcAft>
                <a:spcPts val="1600"/>
              </a:spcAft>
              <a:defRPr sz="1200" b="1">
                <a:solidFill>
                  <a:srgbClr val="EF4444"/>
                </a:solidFill>
                <a:latin typeface="Segoe UI"/>
              </a:defRPr>
            </a:pPr>
            <a:r>
              <a:t>Action Window: Minutes Matter</a:t>
            </a:r>
          </a:p>
          <a:p>
            <a:pPr>
              <a:spcAft>
                <a:spcPts val="10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▸  Chest pain, stroke signs, severe hemorrhage</a:t>
            </a:r>
          </a:p>
          <a:p>
            <a:pPr>
              <a:spcAft>
                <a:spcPts val="10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▸  Bypasses LLM directly via safety gate</a:t>
            </a:r>
          </a:p>
          <a:p>
            <a:pPr>
              <a:spcAft>
                <a:spcPts val="10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▸  Locks UI to flashing emergency card</a:t>
            </a:r>
          </a:p>
          <a:p>
            <a:pPr>
              <a:spcAft>
                <a:spcPts val="10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▸  Urges immediate transfer to District Hospital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5440680"/>
            <a:ext cx="2194560" cy="310896"/>
          </a:xfrm>
          <a:prstGeom prst="roundRect">
            <a:avLst/>
          </a:prstGeom>
          <a:solidFill>
            <a:srgbClr val="101A2C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EF4444"/>
                </a:solidFill>
              </a:defRPr>
            </a:pPr>
            <a:r>
              <a:t>AMBULANCE / ER NOW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5696" y="1783080"/>
            <a:ext cx="3328416" cy="42976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6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62856" y="1783080"/>
            <a:ext cx="3054096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54296" y="2057400"/>
            <a:ext cx="2871216" cy="35661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F59E0B"/>
                </a:solidFill>
                <a:latin typeface="Segoe UI"/>
              </a:defRPr>
            </a:pPr>
            <a:r>
              <a:t>YELLOW: ATTENTION</a:t>
            </a:r>
          </a:p>
          <a:p>
            <a:pPr>
              <a:defRPr sz="1700" b="1">
                <a:solidFill>
                  <a:srgbClr val="FFFFFF"/>
                </a:solidFill>
                <a:latin typeface="Segoe UI"/>
              </a:defRPr>
            </a:pPr>
            <a:r>
              <a:t>Visit PHC in 24–48 Hours</a:t>
            </a:r>
          </a:p>
          <a:p>
            <a:pPr>
              <a:spcAft>
                <a:spcPts val="1600"/>
              </a:spcAft>
              <a:defRPr sz="1200" b="1">
                <a:solidFill>
                  <a:srgbClr val="F59E0B"/>
                </a:solidFill>
                <a:latin typeface="Segoe UI"/>
              </a:defRPr>
            </a:pPr>
            <a:r>
              <a:t>Action Window: Sub-Acute</a:t>
            </a:r>
          </a:p>
          <a:p>
            <a:pPr>
              <a:spcAft>
                <a:spcPts val="10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▸  Persistent high fever &gt;3 days, productive cough</a:t>
            </a:r>
          </a:p>
          <a:p>
            <a:pPr>
              <a:spcAft>
                <a:spcPts val="10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▸  Analyzed by Gemini 2.5 Flash with vitals context</a:t>
            </a:r>
          </a:p>
          <a:p>
            <a:pPr>
              <a:spcAft>
                <a:spcPts val="10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▸  Generates structured ASHA referral slip</a:t>
            </a:r>
          </a:p>
          <a:p>
            <a:pPr>
              <a:spcAft>
                <a:spcPts val="10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▸  Provides warning signs that mandate earlier visit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54296" y="5440680"/>
            <a:ext cx="2194560" cy="310896"/>
          </a:xfrm>
          <a:prstGeom prst="roundRect">
            <a:avLst/>
          </a:prstGeom>
          <a:solidFill>
            <a:srgbClr val="101A2C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59E0B"/>
                </a:solidFill>
              </a:defRPr>
            </a:pPr>
            <a:r>
              <a:t>PHC VISIT IN 24-48H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1783080"/>
            <a:ext cx="3328416" cy="42976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6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57032" y="1783080"/>
            <a:ext cx="3054096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472" y="2057400"/>
            <a:ext cx="2871216" cy="35661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GREEN: ROUTINE</a:t>
            </a:r>
          </a:p>
          <a:p>
            <a:pPr>
              <a:defRPr sz="1700" b="1">
                <a:solidFill>
                  <a:srgbClr val="FFFFFF"/>
                </a:solidFill>
                <a:latin typeface="Segoe UI"/>
              </a:defRPr>
            </a:pPr>
            <a:r>
              <a:t>Supportive Home Care</a:t>
            </a:r>
          </a:p>
          <a:p>
            <a:pPr>
              <a:spcAft>
                <a:spcPts val="1600"/>
              </a:spcAft>
              <a:defRPr sz="1200" b="1">
                <a:solidFill>
                  <a:srgbClr val="10B981"/>
                </a:solidFill>
                <a:latin typeface="Segoe UI"/>
              </a:defRPr>
            </a:pPr>
            <a:r>
              <a:t>Action Window: Self-Limiting</a:t>
            </a:r>
          </a:p>
          <a:p>
            <a:pPr>
              <a:spcAft>
                <a:spcPts val="10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▸  Common seasonal cold, mild headache, simple fatigue</a:t>
            </a:r>
          </a:p>
          <a:p>
            <a:pPr>
              <a:spcAft>
                <a:spcPts val="10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▸  Provides safe, verified home remedies &amp; hydration tips</a:t>
            </a:r>
          </a:p>
          <a:p>
            <a:pPr>
              <a:spcAft>
                <a:spcPts val="10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▸  Reads clear instructions via native-language voice</a:t>
            </a:r>
          </a:p>
          <a:p>
            <a:pPr>
              <a:spcAft>
                <a:spcPts val="10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▸  Instructs patient to re-triage if symptoms persist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48472" y="5440680"/>
            <a:ext cx="2194560" cy="310896"/>
          </a:xfrm>
          <a:prstGeom prst="roundRect">
            <a:avLst/>
          </a:prstGeom>
          <a:solidFill>
            <a:srgbClr val="101A2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0B981"/>
                </a:solidFill>
              </a:defRPr>
            </a:pPr>
            <a:r>
              <a:t>SAFE HOME RECOVERY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291840" cy="292608"/>
          </a:xfrm>
          <a:prstGeom prst="roundRect">
            <a:avLst/>
          </a:prstGeom>
          <a:solidFill>
            <a:srgbClr val="121E34"/>
          </a:solidFill>
          <a:ln w="12700">
            <a:solidFill>
              <a:srgbClr val="2D4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BRIDGING THE DIGITAL DIVIDE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62895" y="384048"/>
            <a:ext cx="1097280" cy="292608"/>
          </a:xfrm>
          <a:prstGeom prst="roundRect">
            <a:avLst/>
          </a:prstGeom>
          <a:solidFill>
            <a:srgbClr val="121E34"/>
          </a:solidFill>
          <a:ln w="12700">
            <a:solidFill>
              <a:srgbClr val="2D4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09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Vernacular Localization &amp; Low-Literacy Inclusivity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9844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Designed from the ground up for rural India's linguistic diversity and low-literacy users.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3328416" cy="42976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6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783080"/>
            <a:ext cx="3054096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57400"/>
            <a:ext cx="2871216" cy="35661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600"/>
              </a:spcAft>
              <a:defRPr sz="1800" b="1">
                <a:solidFill>
                  <a:srgbClr val="10B981"/>
                </a:solidFill>
                <a:latin typeface="Segoe UI"/>
              </a:defRPr>
            </a:pPr>
            <a:r>
              <a:t>5 Major Languages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</a:defRPr>
            </a:pPr>
            <a:r>
              <a:t>•  Hindi (Default):  </a:t>
            </a:r>
            <a:r>
              <a:rPr b="0" sz="1150">
                <a:solidFill>
                  <a:srgbClr val="E2E8F0"/>
                </a:solidFill>
              </a:rPr>
              <a:t>Full Hindi interface and Devanagari voice out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</a:defRPr>
            </a:pPr>
            <a:r>
              <a:t>•  Regional Support:  </a:t>
            </a:r>
            <a:r>
              <a:rPr b="0" sz="1150">
                <a:solidFill>
                  <a:srgbClr val="E2E8F0"/>
                </a:solidFill>
              </a:rPr>
              <a:t>English, Bengali, Telugu, and Marathi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</a:defRPr>
            </a:pPr>
            <a:r>
              <a:t>•  Instant Toggle:  </a:t>
            </a:r>
            <a:r>
              <a:rPr b="0" sz="1150">
                <a:solidFill>
                  <a:srgbClr val="E2E8F0"/>
                </a:solidFill>
              </a:rPr>
              <a:t>Switch language anytime with 1 tap, zero reload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</a:defRPr>
            </a:pPr>
            <a:r>
              <a:t>•  Acoustic Tuning:  </a:t>
            </a:r>
            <a:r>
              <a:rPr b="0" sz="1150">
                <a:solidFill>
                  <a:srgbClr val="E2E8F0"/>
                </a:solidFill>
              </a:rPr>
              <a:t>Tuned for colloquial idioms, slangs, and accents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5440680"/>
            <a:ext cx="2194560" cy="310896"/>
          </a:xfrm>
          <a:prstGeom prst="roundRect">
            <a:avLst/>
          </a:prstGeom>
          <a:solidFill>
            <a:srgbClr val="101A2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0B981"/>
                </a:solidFill>
              </a:defRPr>
            </a:pPr>
            <a:r>
              <a:t>BHASHINI ALIGNED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5696" y="1783080"/>
            <a:ext cx="3328416" cy="42976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6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62856" y="1783080"/>
            <a:ext cx="3054096" cy="5486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54296" y="2057400"/>
            <a:ext cx="2871216" cy="35661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600"/>
              </a:spcAft>
              <a:defRPr sz="1800" b="1">
                <a:solidFill>
                  <a:srgbClr val="06B6D4"/>
                </a:solidFill>
                <a:latin typeface="Segoe UI"/>
              </a:defRPr>
            </a:pPr>
            <a:r>
              <a:t>Visual Body-Part Map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</a:defRPr>
            </a:pPr>
            <a:r>
              <a:t>•  Zero Typing Needed:  </a:t>
            </a:r>
            <a:r>
              <a:rPr b="0" sz="1150">
                <a:solidFill>
                  <a:srgbClr val="E2E8F0"/>
                </a:solidFill>
              </a:rPr>
              <a:t>Touch head, chest, stomach, arms, or legs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</a:defRPr>
            </a:pPr>
            <a:r>
              <a:t>•  Elderly Friendly:  </a:t>
            </a:r>
            <a:r>
              <a:rPr b="0" sz="1150">
                <a:solidFill>
                  <a:srgbClr val="E2E8F0"/>
                </a:solidFill>
              </a:rPr>
              <a:t>Large visual targets with high-contrast borders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</a:defRPr>
            </a:pPr>
            <a:r>
              <a:t>•  Multi-Region Select:  </a:t>
            </a:r>
            <a:r>
              <a:rPr b="0" sz="1150">
                <a:solidFill>
                  <a:srgbClr val="E2E8F0"/>
                </a:solidFill>
              </a:rPr>
              <a:t>Select multiple affected zones simultaneously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</a:defRPr>
            </a:pPr>
            <a:r>
              <a:t>•  Context Enrichment:  </a:t>
            </a:r>
            <a:r>
              <a:rPr b="0" sz="1150">
                <a:solidFill>
                  <a:srgbClr val="E2E8F0"/>
                </a:solidFill>
              </a:rPr>
              <a:t>Feeds anatomical location directly to triage AI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54296" y="5440680"/>
            <a:ext cx="2194560" cy="310896"/>
          </a:xfrm>
          <a:prstGeom prst="roundRect">
            <a:avLst/>
          </a:prstGeom>
          <a:solidFill>
            <a:srgbClr val="101A2C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</a:defRPr>
            </a:pPr>
            <a:r>
              <a:t>ZERO-LITERACY BARRIER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1783080"/>
            <a:ext cx="3328416" cy="42976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6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57032" y="1783080"/>
            <a:ext cx="3054096" cy="54864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472" y="2057400"/>
            <a:ext cx="2871216" cy="35661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600"/>
              </a:spcAft>
              <a:defRPr sz="1800" b="1">
                <a:solidFill>
                  <a:srgbClr val="3B82F6"/>
                </a:solidFill>
                <a:latin typeface="Segoe UI"/>
              </a:defRPr>
            </a:pPr>
            <a:r>
              <a:t>Voice-In / Voice-Out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</a:defRPr>
            </a:pPr>
            <a:r>
              <a:t>•  Natural Speech ASR:  </a:t>
            </a:r>
            <a:r>
              <a:rPr b="0" sz="1150">
                <a:solidFill>
                  <a:srgbClr val="E2E8F0"/>
                </a:solidFill>
              </a:rPr>
              <a:t>Powered by Sarvam Saaras v4 acoustic models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</a:defRPr>
            </a:pPr>
            <a:r>
              <a:t>•  Warm Indian TTS:  </a:t>
            </a:r>
            <a:r>
              <a:rPr b="0" sz="1150">
                <a:solidFill>
                  <a:srgbClr val="E2E8F0"/>
                </a:solidFill>
              </a:rPr>
              <a:t>Sarvam Bulbul v3 sounds natural, not robotic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</a:defRPr>
            </a:pPr>
            <a:r>
              <a:t>•  Dual Readout:  </a:t>
            </a:r>
            <a:r>
              <a:rPr b="0" sz="1150">
                <a:solidFill>
                  <a:srgbClr val="E2E8F0"/>
                </a:solidFill>
              </a:rPr>
              <a:t>Visual cards accompanied by clear audio playback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</a:defRPr>
            </a:pPr>
            <a:r>
              <a:t>•  Illiteracy Bridge:  </a:t>
            </a:r>
            <a:r>
              <a:rPr b="0" sz="1150">
                <a:solidFill>
                  <a:srgbClr val="E2E8F0"/>
                </a:solidFill>
              </a:rPr>
              <a:t>Citizens get expert medical advice without reading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48472" y="5440680"/>
            <a:ext cx="2194560" cy="310896"/>
          </a:xfrm>
          <a:prstGeom prst="roundRect">
            <a:avLst/>
          </a:prstGeom>
          <a:solidFill>
            <a:srgbClr val="101A2C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B82F6"/>
                </a:solidFill>
              </a:defRPr>
            </a:pPr>
            <a:r>
              <a:t>NATURAL SPEECH VIVO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291840" cy="292608"/>
          </a:xfrm>
          <a:prstGeom prst="roundRect">
            <a:avLst/>
          </a:prstGeom>
          <a:solidFill>
            <a:srgbClr val="121E34"/>
          </a:solidFill>
          <a:ln w="12700">
            <a:solidFill>
              <a:srgbClr val="2D4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COMPUTER VISION &amp; DRUG SAFETY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62895" y="384048"/>
            <a:ext cx="1097280" cy="292608"/>
          </a:xfrm>
          <a:prstGeom prst="roundRect">
            <a:avLst/>
          </a:prstGeom>
          <a:solidFill>
            <a:srgbClr val="121E34"/>
          </a:solidFill>
          <a:ln w="12700">
            <a:solidFill>
              <a:srgbClr val="2D4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10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Multimodal Prescription OCR &amp; Safety Screening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9844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Translating illegible handwritten doctor prescriptions into safe, digital patient records.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3328416" cy="42976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6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783080"/>
            <a:ext cx="3054096" cy="5486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57400"/>
            <a:ext cx="2871216" cy="35661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600"/>
              </a:spcAft>
              <a:defRPr sz="1800" b="1">
                <a:solidFill>
                  <a:srgbClr val="06B6D4"/>
                </a:solidFill>
                <a:latin typeface="Segoe UI"/>
              </a:defRPr>
            </a:pPr>
            <a:r>
              <a:t>1. Vision Extraction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</a:defRPr>
            </a:pPr>
            <a:r>
              <a:t>•  Camera Capture:  </a:t>
            </a:r>
            <a:r>
              <a:rPr b="0" sz="1150">
                <a:solidFill>
                  <a:srgbClr val="E2E8F0"/>
                </a:solidFill>
              </a:rPr>
              <a:t>Snap photo of messy handwritten doctor paper slip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</a:defRPr>
            </a:pPr>
            <a:r>
              <a:t>•  Multimodal OCR:  </a:t>
            </a:r>
            <a:r>
              <a:rPr b="0" sz="1150">
                <a:solidFill>
                  <a:srgbClr val="E2E8F0"/>
                </a:solidFill>
              </a:rPr>
              <a:t>Gemini 2.5 Flash Vision extracts medicines &amp; doses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</a:defRPr>
            </a:pPr>
            <a:r>
              <a:t>•  Laser Scan UI:  </a:t>
            </a:r>
            <a:r>
              <a:rPr b="0" sz="1150">
                <a:solidFill>
                  <a:srgbClr val="E2E8F0"/>
                </a:solidFill>
              </a:rPr>
              <a:t>Animated laser scanning line gives instant feedback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</a:defRPr>
            </a:pPr>
            <a:r>
              <a:t>•  Privacy Focus:  </a:t>
            </a:r>
            <a:r>
              <a:rPr b="0" sz="1150">
                <a:solidFill>
                  <a:srgbClr val="E2E8F0"/>
                </a:solidFill>
              </a:rPr>
              <a:t>Images deleted immediately after OCR extraction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5440680"/>
            <a:ext cx="2194560" cy="310896"/>
          </a:xfrm>
          <a:prstGeom prst="roundRect">
            <a:avLst/>
          </a:prstGeom>
          <a:solidFill>
            <a:srgbClr val="101A2C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</a:defRPr>
            </a:pPr>
            <a:r>
              <a:t>GEMINI 2.5 VISION OCR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5696" y="1783080"/>
            <a:ext cx="3328416" cy="42976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6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62856" y="1783080"/>
            <a:ext cx="3054096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54296" y="2057400"/>
            <a:ext cx="2871216" cy="35661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600"/>
              </a:spcAft>
              <a:defRPr sz="1800" b="1">
                <a:solidFill>
                  <a:srgbClr val="F59E0B"/>
                </a:solidFill>
                <a:latin typeface="Segoe UI"/>
              </a:defRPr>
            </a:pPr>
            <a:r>
              <a:t>2. Safety Screening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</a:defRPr>
            </a:pPr>
            <a:r>
              <a:t>•  Contraindications:  </a:t>
            </a:r>
            <a:r>
              <a:rPr b="0" sz="1150">
                <a:solidFill>
                  <a:srgbClr val="E2E8F0"/>
                </a:solidFill>
              </a:rPr>
              <a:t>Cross-checks medicines for dangerous interactions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</a:defRPr>
            </a:pPr>
            <a:r>
              <a:t>•  Dosage Verification:  </a:t>
            </a:r>
            <a:r>
              <a:rPr b="0" sz="1150">
                <a:solidFill>
                  <a:srgbClr val="E2E8F0"/>
                </a:solidFill>
              </a:rPr>
              <a:t>Flags abnormal dosages or missing frequency terms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</a:defRPr>
            </a:pPr>
            <a:r>
              <a:t>•  Overdose Check:  </a:t>
            </a:r>
            <a:r>
              <a:rPr b="0" sz="1150">
                <a:solidFill>
                  <a:srgbClr val="E2E8F0"/>
                </a:solidFill>
              </a:rPr>
              <a:t>Prevents duplicate medications across old slips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</a:defRPr>
            </a:pPr>
            <a:r>
              <a:t>•  Warning Badges:  </a:t>
            </a:r>
            <a:r>
              <a:rPr b="0" sz="1150">
                <a:solidFill>
                  <a:srgbClr val="E2E8F0"/>
                </a:solidFill>
              </a:rPr>
              <a:t>Displays clear yellow/red medication hazard alerts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54296" y="5440680"/>
            <a:ext cx="2194560" cy="310896"/>
          </a:xfrm>
          <a:prstGeom prst="roundRect">
            <a:avLst/>
          </a:prstGeom>
          <a:solidFill>
            <a:srgbClr val="101A2C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59E0B"/>
                </a:solidFill>
              </a:defRPr>
            </a:pPr>
            <a:r>
              <a:t>DRUG SAFETY CHECK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1783080"/>
            <a:ext cx="3328416" cy="42976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6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57032" y="1783080"/>
            <a:ext cx="3054096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472" y="2057400"/>
            <a:ext cx="2871216" cy="35661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600"/>
              </a:spcAft>
              <a:defRPr sz="1800" b="1">
                <a:solidFill>
                  <a:srgbClr val="10B981"/>
                </a:solidFill>
                <a:latin typeface="Segoe UI"/>
              </a:defRPr>
            </a:pPr>
            <a:r>
              <a:t>3. Human Verification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</a:defRPr>
            </a:pPr>
            <a:r>
              <a:t>•  Editable Form:  </a:t>
            </a:r>
            <a:r>
              <a:rPr b="0" sz="1150">
                <a:solidFill>
                  <a:srgbClr val="E2E8F0"/>
                </a:solidFill>
              </a:rPr>
              <a:t>Extracted drugs are placed into structured fields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</a:defRPr>
            </a:pPr>
            <a:r>
              <a:t>•  ASHA Confirmation:  </a:t>
            </a:r>
            <a:r>
              <a:rPr b="0" sz="1150">
                <a:solidFill>
                  <a:srgbClr val="E2E8F0"/>
                </a:solidFill>
              </a:rPr>
              <a:t>Health worker confirms or adjusts dosage on screen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</a:defRPr>
            </a:pPr>
            <a:r>
              <a:t>•  Beneficiary Sync:  </a:t>
            </a:r>
            <a:r>
              <a:rPr b="0" sz="1150">
                <a:solidFill>
                  <a:srgbClr val="E2E8F0"/>
                </a:solidFill>
              </a:rPr>
              <a:t>Verified list attaches to patient referral record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</a:defRPr>
            </a:pPr>
            <a:r>
              <a:t>•  ABDM Ready:  </a:t>
            </a:r>
            <a:r>
              <a:rPr b="0" sz="1150">
                <a:solidFill>
                  <a:srgbClr val="E2E8F0"/>
                </a:solidFill>
              </a:rPr>
              <a:t>Formatted cleanly for digital health locker sync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48472" y="5440680"/>
            <a:ext cx="2194560" cy="310896"/>
          </a:xfrm>
          <a:prstGeom prst="roundRect">
            <a:avLst/>
          </a:prstGeom>
          <a:solidFill>
            <a:srgbClr val="101A2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0B981"/>
                </a:solidFill>
              </a:defRPr>
            </a:pPr>
            <a:r>
              <a:t>HUMAN-IN-THE-LOOP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291840" cy="292608"/>
          </a:xfrm>
          <a:prstGeom prst="roundRect">
            <a:avLst/>
          </a:prstGeom>
          <a:solidFill>
            <a:srgbClr val="121E34"/>
          </a:solidFill>
          <a:ln w="12700">
            <a:solidFill>
              <a:srgbClr val="2D4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MEASURABLE OUTCOMES &amp; POLICY SYNERGY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62895" y="384048"/>
            <a:ext cx="1097280" cy="292608"/>
          </a:xfrm>
          <a:prstGeom prst="roundRect">
            <a:avLst/>
          </a:prstGeom>
          <a:solidFill>
            <a:srgbClr val="121E34"/>
          </a:solidFill>
          <a:ln w="12700">
            <a:solidFill>
              <a:srgbClr val="2D4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11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Real-World Clinical Impact &amp; Government Alignment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9844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Driving quantifiable healthcare efficiency while strictly aligning with national health frameworks.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2450592" cy="164592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6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783080"/>
            <a:ext cx="2176272" cy="54864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65960"/>
            <a:ext cx="2176272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000" b="1">
                <a:solidFill>
                  <a:srgbClr val="EF4444"/>
                </a:solidFill>
              </a:defRPr>
            </a:pPr>
            <a:r>
              <a:t>&lt; 100 ms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Emergency Triage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Zero delay to dial 108 ambulance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3008" y="1783080"/>
            <a:ext cx="2450592" cy="164592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6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30168" y="1783080"/>
            <a:ext cx="2176272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965960"/>
            <a:ext cx="2176272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000" b="1">
                <a:solidFill>
                  <a:srgbClr val="10B981"/>
                </a:solidFill>
              </a:defRPr>
            </a:pPr>
            <a:r>
              <a:t>75%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Travel Reduction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Cuts unnecessary hospital visits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4496" y="1783080"/>
            <a:ext cx="2450592" cy="164592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6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91656" y="1783080"/>
            <a:ext cx="2176272" cy="5486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1656" y="1965960"/>
            <a:ext cx="2176272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000" b="1">
                <a:solidFill>
                  <a:srgbClr val="06B6D4"/>
                </a:solidFill>
              </a:defRPr>
            </a:pPr>
            <a:r>
              <a:t>100%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Standardized Referrals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Structured slips for PHC doctors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15984" y="1783080"/>
            <a:ext cx="2450592" cy="164592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6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53144" y="1783080"/>
            <a:ext cx="2176272" cy="54864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53144" y="1965960"/>
            <a:ext cx="2176272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000" b="1">
                <a:solidFill>
                  <a:srgbClr val="3B82F6"/>
                </a:solidFill>
              </a:defRPr>
            </a:pPr>
            <a:r>
              <a:t>5+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Regional Languages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True linguistic equity in Bharat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611880"/>
            <a:ext cx="10728655" cy="24688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6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68680" y="3611880"/>
            <a:ext cx="10454335" cy="5486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840480"/>
            <a:ext cx="10058400" cy="2103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06B6D4"/>
                </a:solidFill>
              </a:defRPr>
            </a:pPr>
            <a:r>
              <a:t>🏛️ Alignment with Government of India Digital Missions</a:t>
            </a:r>
          </a:p>
          <a:p>
            <a:pPr>
              <a:spcAft>
                <a:spcPts val="800"/>
              </a:spcAft>
              <a:defRPr b="1" sz="1350">
                <a:solidFill>
                  <a:srgbClr val="FFFFFF"/>
                </a:solidFill>
              </a:defRPr>
            </a:pPr>
            <a:r>
              <a:t>✔  Ayushman Bharat Digital Mission (ABDM):  </a:t>
            </a:r>
            <a:r>
              <a:rPr b="0" sz="1200">
                <a:solidFill>
                  <a:srgbClr val="E2E8F0"/>
                </a:solidFill>
              </a:rPr>
              <a:t>Triage records format ready for 14-digit ABHA health accounts and PHR bundles.</a:t>
            </a:r>
          </a:p>
          <a:p>
            <a:pPr>
              <a:spcAft>
                <a:spcPts val="800"/>
              </a:spcAft>
              <a:defRPr b="1" sz="1350">
                <a:solidFill>
                  <a:srgbClr val="FFFFFF"/>
                </a:solidFill>
              </a:defRPr>
            </a:pPr>
            <a:r>
              <a:t>✔  Digital India Bhashini Mission:  </a:t>
            </a:r>
            <a:r>
              <a:rPr b="0" sz="1200">
                <a:solidFill>
                  <a:srgbClr val="E2E8F0"/>
                </a:solidFill>
              </a:rPr>
              <a:t>Accelerating vernacular voice AI adoption in rural public service delivery.</a:t>
            </a:r>
          </a:p>
          <a:p>
            <a:pPr>
              <a:spcAft>
                <a:spcPts val="800"/>
              </a:spcAft>
              <a:defRPr b="1" sz="1350">
                <a:solidFill>
                  <a:srgbClr val="FFFFFF"/>
                </a:solidFill>
              </a:defRPr>
            </a:pPr>
            <a:r>
              <a:t>✔  National Health Mission (NHM):  </a:t>
            </a:r>
            <a:r>
              <a:rPr b="0" sz="1200">
                <a:solidFill>
                  <a:srgbClr val="E2E8F0"/>
                </a:solidFill>
              </a:rPr>
              <a:t>Directly empowers 1 Million+ frontline ASHA workers with doorstep decision support.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291840" cy="292608"/>
          </a:xfrm>
          <a:prstGeom prst="roundRect">
            <a:avLst/>
          </a:prstGeom>
          <a:solidFill>
            <a:srgbClr val="121E34"/>
          </a:solidFill>
          <a:ln w="12700">
            <a:solidFill>
              <a:srgbClr val="2D4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THE PATH FORWARD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62895" y="384048"/>
            <a:ext cx="1097280" cy="292608"/>
          </a:xfrm>
          <a:prstGeom prst="roundRect">
            <a:avLst/>
          </a:prstGeom>
          <a:solidFill>
            <a:srgbClr val="121E34"/>
          </a:solidFill>
          <a:ln w="12700">
            <a:solidFill>
              <a:srgbClr val="2D4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12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Roadmap, Scalability &amp; Summary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9844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From hackathon proof-of-concept to nationwide rural healthcare infrastructure.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3328416" cy="42976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6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783080"/>
            <a:ext cx="3054096" cy="5486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57400"/>
            <a:ext cx="2871216" cy="35661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600"/>
              </a:spcAft>
              <a:defRPr sz="1700" b="1">
                <a:solidFill>
                  <a:srgbClr val="06B6D4"/>
                </a:solidFill>
                <a:latin typeface="Segoe UI"/>
              </a:defRPr>
            </a:pPr>
            <a:r>
              <a:t>Near-Term (Next 3 Months)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</a:defRPr>
            </a:pPr>
            <a:r>
              <a:t>•  Edge WASM Models:  </a:t>
            </a:r>
            <a:r>
              <a:rPr b="0" sz="1150">
                <a:solidFill>
                  <a:srgbClr val="E2E8F0"/>
                </a:solidFill>
              </a:rPr>
              <a:t>Offline voice transcription for zero-signal village clinics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</a:defRPr>
            </a:pPr>
            <a:r>
              <a:t>•  WhatsApp PHC Bot:  </a:t>
            </a:r>
            <a:r>
              <a:rPr b="0" sz="1150">
                <a:solidFill>
                  <a:srgbClr val="E2E8F0"/>
                </a:solidFill>
              </a:rPr>
              <a:t>Automated referral slip push to primary care doctors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</a:defRPr>
            </a:pPr>
            <a:r>
              <a:t>•  5 Additional Languages:  </a:t>
            </a:r>
            <a:r>
              <a:rPr b="0" sz="1150">
                <a:solidFill>
                  <a:srgbClr val="E2E8F0"/>
                </a:solidFill>
              </a:rPr>
              <a:t>Tamil, Gujarati, Punjabi, Kannada, and Odia support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5440680"/>
            <a:ext cx="2286000" cy="310896"/>
          </a:xfrm>
          <a:prstGeom prst="roundRect">
            <a:avLst/>
          </a:prstGeom>
          <a:solidFill>
            <a:srgbClr val="101A2C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</a:defRPr>
            </a:pPr>
            <a:r>
              <a:t>OFFLINE-FIRST EDGE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5696" y="1783080"/>
            <a:ext cx="3328416" cy="42976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6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62856" y="1783080"/>
            <a:ext cx="3054096" cy="5486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54296" y="2057400"/>
            <a:ext cx="2871216" cy="35661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600"/>
              </a:spcAft>
              <a:defRPr sz="1700" b="1">
                <a:solidFill>
                  <a:srgbClr val="6366F1"/>
                </a:solidFill>
                <a:latin typeface="Segoe UI"/>
              </a:defRPr>
            </a:pPr>
            <a:r>
              <a:t>Long-Term Vision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</a:defRPr>
            </a:pPr>
            <a:r>
              <a:t>•  ABDM Sandbox Push:  </a:t>
            </a:r>
            <a:r>
              <a:rPr b="0" sz="1150">
                <a:solidFill>
                  <a:srgbClr val="E2E8F0"/>
                </a:solidFill>
              </a:rPr>
              <a:t>Direct electronic health record sync via ABDM Gateway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</a:defRPr>
            </a:pPr>
            <a:r>
              <a:t>•  Outbreak Heatmaps:  </a:t>
            </a:r>
            <a:r>
              <a:rPr b="0" sz="1150">
                <a:solidFill>
                  <a:srgbClr val="E2E8F0"/>
                </a:solidFill>
              </a:rPr>
              <a:t>Aggregated symptom cluster maps for District Health Officers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</a:defRPr>
            </a:pPr>
            <a:r>
              <a:t>•  Medicine Stock Alert:  </a:t>
            </a:r>
            <a:r>
              <a:rPr b="0" sz="1150">
                <a:solidFill>
                  <a:srgbClr val="E2E8F0"/>
                </a:solidFill>
              </a:rPr>
              <a:t>Flags local PHC stockouts for essential antibiotics &amp; 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54296" y="5440680"/>
            <a:ext cx="2286000" cy="310896"/>
          </a:xfrm>
          <a:prstGeom prst="roundRect">
            <a:avLst/>
          </a:prstGeom>
          <a:solidFill>
            <a:srgbClr val="101A2C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366F1"/>
                </a:solidFill>
              </a:defRPr>
            </a:pPr>
            <a:r>
              <a:t>NATIONAL HEALTH GRID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1783080"/>
            <a:ext cx="3328416" cy="42976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6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57032" y="1783080"/>
            <a:ext cx="3054096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472" y="2057400"/>
            <a:ext cx="2871216" cy="35661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600"/>
              </a:spcAft>
              <a:defRPr sz="1700" b="1">
                <a:solidFill>
                  <a:srgbClr val="10B981"/>
                </a:solidFill>
                <a:latin typeface="Segoe UI"/>
              </a:defRPr>
            </a:pPr>
            <a:r>
              <a:t>Summary for Evaluators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</a:defRPr>
            </a:pPr>
            <a:r>
              <a:t>•  Life-Saving Safety:  </a:t>
            </a:r>
            <a:r>
              <a:rPr b="0" sz="1150">
                <a:solidFill>
                  <a:srgbClr val="E2E8F0"/>
                </a:solidFill>
              </a:rPr>
              <a:t>Deterministic &lt;100ms emergency gates prevent clinical tragedy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</a:defRPr>
            </a:pPr>
            <a:r>
              <a:t>•  Production Architecture:  </a:t>
            </a:r>
            <a:r>
              <a:rPr b="0" sz="1150">
                <a:solidFill>
                  <a:srgbClr val="E2E8F0"/>
                </a:solidFill>
              </a:rPr>
              <a:t>React 19, serverless edge, and multi-model AI fallbacks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</a:defRPr>
            </a:pPr>
            <a:r>
              <a:t>•  True Clinical Equity:  </a:t>
            </a:r>
            <a:r>
              <a:rPr b="0" sz="1150">
                <a:solidFill>
                  <a:srgbClr val="E2E8F0"/>
                </a:solidFill>
              </a:rPr>
              <a:t>Brings specialized triage to 850M+ last-mile citizens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48472" y="5440680"/>
            <a:ext cx="2286000" cy="310896"/>
          </a:xfrm>
          <a:prstGeom prst="roundRect">
            <a:avLst/>
          </a:prstGeom>
          <a:solidFill>
            <a:srgbClr val="101A2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0B981"/>
                </a:solidFill>
              </a:defRPr>
            </a:pPr>
            <a:r>
              <a:t>MISSION-READY IMPACT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