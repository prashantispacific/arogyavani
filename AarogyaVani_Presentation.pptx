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371600"/>
            <a:ext cx="4114800" cy="41148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914400"/>
            <a:ext cx="10728655" cy="5029200"/>
          </a:xfrm>
          <a:prstGeom prst="roundRect">
            <a:avLst/>
          </a:prstGeom>
          <a:solidFill>
            <a:srgbClr val="0C152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28016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BIT N BUILD '26 HACKATHON  •  HEALTHTECH TRACK</a:t>
            </a:r>
          </a:p>
          <a:p>
            <a:pPr>
              <a:spcAft>
                <a:spcPts val="800"/>
              </a:spcAft>
              <a:defRPr sz="4000" b="1">
                <a:solidFill>
                  <a:srgbClr val="FFFFFF"/>
                </a:solidFill>
              </a:defRPr>
            </a:pPr>
            <a:r>
              <a:t>आरोग्यवाणी (AarogyaVani)</a:t>
            </a:r>
          </a:p>
          <a:p>
            <a:pPr>
              <a:spcAft>
                <a:spcPts val="2400"/>
              </a:spcAft>
              <a:defRPr sz="2000" b="1">
                <a:solidFill>
                  <a:srgbClr val="14B8A6"/>
                </a:solidFill>
              </a:defRPr>
            </a:pPr>
            <a:r>
              <a:t>Voice-First AI Clinical Triage &amp; Referral Assistant for Rural Healthcare</a:t>
            </a:r>
          </a:p>
          <a:p>
            <a:pPr>
              <a:spcAft>
                <a:spcPts val="3600"/>
              </a:spcAft>
              <a:defRPr sz="1400">
                <a:solidFill>
                  <a:srgbClr val="CBD5E1"/>
                </a:solidFill>
              </a:defRPr>
            </a:pPr>
            <a:r>
              <a:t>Bridging the rural healthcare divide for 850M+ citizens and 1M+ ASHA workers.</a:t>
            </a:r>
            <a:br/>
            <a:r>
              <a:t>Spoken symptoms in native Indian languages  ➔  Deterministic danger safety  ➔  Color-coded triage + Voice guidance.</a:t>
            </a:r>
          </a:p>
          <a:p>
            <a:pPr>
              <a:defRPr sz="1200" b="1">
                <a:solidFill>
                  <a:srgbClr val="94A3B8"/>
                </a:solidFill>
              </a:defRPr>
            </a:pPr>
            <a:r>
              <a:t>Developed by Team LocalHost Boys • GDG HBTU  |  React 19 • Gemini 2.5 Flash • Sarvam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GROUND REALITY &amp;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The Problem: The Rural Indian Healthcare Trilemma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Segoe UI"/>
              </a:defRPr>
            </a:pPr>
            <a:r>
              <a:t>2 / 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328416" cy="466344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1E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EF4444"/>
                </a:solidFill>
              </a:defRPr>
            </a:pPr>
            <a:r>
              <a:t>👨‍⚕️ 1. Extreme Scarcity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• Doctor Ratio 1:25,000+: 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  Rural regions face severe doctor shortages, 25x worse than WHO's 1:1,000 baseline.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• 40 km Average Travel: 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  Villagers travel hours on foot or tractor to reach the nearest Community Health Centre (CHC).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• Late Clinical Arrival: 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  Patients arrive when self-limiting fevers become critical sepsis or heart failure.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463040"/>
            <a:ext cx="3328416" cy="466344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1E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59E0B"/>
                </a:solidFill>
              </a:defRPr>
            </a:pPr>
            <a:r>
              <a:t>🗣️ 2. Language &amp; Literacy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• Keyboards Fail: 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  Typing symptoms in English or complex apps is impossible for low-literacy rural patients.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• Hundreds of Dialects: 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  Rural speakers use Bhojpuri, Maithili, Awadhi, or code-mixed vernacular idioms.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• Unreadable Prescriptions: 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  Old handwritten doctor slips are lost or unreadable, leading to repeated misdiagnosis.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463040"/>
            <a:ext cx="3328416" cy="466344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1E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4B8A6"/>
                </a:solidFill>
              </a:defRPr>
            </a:pPr>
            <a:r>
              <a:t>👩‍⚕️ 3. ASHA Workload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• 1 Million Workers: 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  ASHA workers are the frontline backbone but carry massive physical paper registers.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• No Diagnostic Tools: 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  ASHAs have basic training but no specialist triage decision support at the doorstep.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• Referral Bottlenecks: </a:t>
            </a:r>
          </a:p>
          <a:p>
            <a:pPr>
              <a:spcAft>
                <a:spcPts val="800"/>
              </a:spcAft>
              <a:defRPr sz="1100">
                <a:solidFill>
                  <a:srgbClr val="CBD5E1"/>
                </a:solidFill>
              </a:defRPr>
            </a:pPr>
            <a:r>
              <a:t>  PHC doctors receive uncertified verbal complaints without vitals or structured history.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INNOVATION &amp; VALUE PROPOSITION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The Solution: What is AarogyaVani?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Segoe UI"/>
              </a:defRPr>
            </a:pPr>
            <a:r>
              <a:t>3 / 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75504" cy="4663440"/>
          </a:xfrm>
          <a:prstGeom prst="roundRect">
            <a:avLst/>
          </a:prstGeom>
          <a:solidFill>
            <a:srgbClr val="0E192D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45920"/>
            <a:ext cx="462686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10B981"/>
                </a:solidFill>
              </a:defRPr>
            </a:pPr>
            <a:r>
              <a:t>💡 For Non-Technical &amp; Healthcare Judges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✔ Virtual Clinical Copilot: 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   A compassionate, pocket-sized assistant for ASHA workers and villagers.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✔ Speak Naturally: 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   Just press one big button and speak symptoms in your native tongue. No typing needed.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✔ Understands Any Accent: 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   Processes Hindi, Bengali, Telugu, Marathi, and regional rural dialects.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✔ Instant Danger Protection: 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   Detects heart attack, stroke, or severe bleeding in less than a second.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✔ Voice-Out Guidance: 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   Calmly speaks out home care tips and instructions so illiterate patients understand.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1463040"/>
            <a:ext cx="5175504" cy="4663440"/>
          </a:xfrm>
          <a:prstGeom prst="roundRect">
            <a:avLst/>
          </a:prstGeom>
          <a:solidFill>
            <a:srgbClr val="0E192D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47104" y="1645920"/>
            <a:ext cx="462686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14B8A6"/>
                </a:solidFill>
              </a:defRPr>
            </a:pPr>
            <a:r>
              <a:t>⚡ For Technical Evaluators &amp; Architects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⚙ Multi-Model Pipeline: 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   Combines Sarvam Saaras v4 (ASR), Gemini 2.5 Flash (Triage), and Bulbul v3 (TTS).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⚙ Deterministic Safety Gates: 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   Hardcoded regex rules bypass LLM to deliver 100% zero-hallucination RED alerts.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⚙ Multimodal Vision OCR: 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   Gemini Vision deciphers handwritten prescriptions into clean JSON in &lt;2 seconds.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⚙ Resilient Fallback Design: 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   If Sarvam ASR fails, auto-falls back to Gemini Multimodal Audio without breaking.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⚙ Zero PII Retention: 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   Stateless serverless execution complies with healthcare privacy and ABDM standards.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USER EXPERIENCE &amp; TARGET PERSONAS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Dual-Persona Architecture: Citizen Simplicity + ASHA Rigor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Segoe UI"/>
              </a:defRPr>
            </a:pPr>
            <a:r>
              <a:t>4 / 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75504" cy="4663440"/>
          </a:xfrm>
          <a:prstGeom prst="roundRect">
            <a:avLst/>
          </a:prstGeom>
          <a:solidFill>
            <a:srgbClr val="0E182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45920"/>
            <a:ext cx="462686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4B8A6"/>
                </a:solidFill>
              </a:defRPr>
            </a:pPr>
            <a:r>
              <a:t>🧑‍🌾 Citizen / Patient Mode (मरीज़)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• Primary Goal: </a:t>
            </a:r>
          </a:p>
          <a:p>
            <a:pPr>
              <a:spcAft>
                <a:spcPts val="500"/>
              </a:spcAft>
              <a:defRPr sz="1100">
                <a:solidFill>
                  <a:srgbClr val="CBD5E1"/>
                </a:solidFill>
              </a:defRPr>
            </a:pPr>
            <a:r>
              <a:t>  Immediate self-triage for rural villagers at home.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• Zero Typing Required: </a:t>
            </a:r>
          </a:p>
          <a:p>
            <a:pPr>
              <a:spcAft>
                <a:spcPts val="500"/>
              </a:spcAft>
              <a:defRPr sz="1100">
                <a:solidFill>
                  <a:srgbClr val="CBD5E1"/>
                </a:solidFill>
              </a:defRPr>
            </a:pPr>
            <a:r>
              <a:t>  Big central microphone button + interactive tap-based Anatomical Body Map.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• Dialect Friendly: </a:t>
            </a:r>
          </a:p>
          <a:p>
            <a:pPr>
              <a:spcAft>
                <a:spcPts val="500"/>
              </a:spcAft>
              <a:defRPr sz="1100">
                <a:solidFill>
                  <a:srgbClr val="CBD5E1"/>
                </a:solidFill>
              </a:defRPr>
            </a:pPr>
            <a:r>
              <a:t>  Patient describes illness in colloquial Hindi, Bengali, Telugu, Marathi.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• Instant 108 Emergency Dial: </a:t>
            </a:r>
          </a:p>
          <a:p>
            <a:pPr>
              <a:spcAft>
                <a:spcPts val="500"/>
              </a:spcAft>
              <a:defRPr sz="1100">
                <a:solidFill>
                  <a:srgbClr val="CBD5E1"/>
                </a:solidFill>
              </a:defRPr>
            </a:pPr>
            <a:r>
              <a:t>  One-tap direct dialer button connecting directly to state ambulance service.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• Audio-First Output: </a:t>
            </a:r>
          </a:p>
          <a:p>
            <a:pPr>
              <a:spcAft>
                <a:spcPts val="500"/>
              </a:spcAft>
              <a:defRPr sz="1100">
                <a:solidFill>
                  <a:srgbClr val="CBD5E1"/>
                </a:solidFill>
              </a:defRPr>
            </a:pPr>
            <a:r>
              <a:t>  Plays spoken voice guidance automatically — no need to read medical words.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• Reassurance &amp; Privacy: </a:t>
            </a:r>
          </a:p>
          <a:p>
            <a:pPr>
              <a:spcAft>
                <a:spcPts val="500"/>
              </a:spcAft>
              <a:defRPr sz="1100">
                <a:solidFill>
                  <a:srgbClr val="CBD5E1"/>
                </a:solidFill>
              </a:defRPr>
            </a:pPr>
            <a:r>
              <a:t>  Zero registration friction, zero personal records stored on public devices.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1463040"/>
            <a:ext cx="5175504" cy="4663440"/>
          </a:xfrm>
          <a:prstGeom prst="roundRect">
            <a:avLst/>
          </a:prstGeom>
          <a:solidFill>
            <a:srgbClr val="0E1828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47104" y="1645920"/>
            <a:ext cx="462686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0B981"/>
                </a:solidFill>
              </a:defRPr>
            </a:pPr>
            <a:r>
              <a:t>👩‍⚕️ ASHA Field Worker Mode (आशा)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• Primary Goal: </a:t>
            </a:r>
          </a:p>
          <a:p>
            <a:pPr>
              <a:spcAft>
                <a:spcPts val="500"/>
              </a:spcAft>
              <a:defRPr sz="1100">
                <a:solidFill>
                  <a:srgbClr val="CBD5E1"/>
                </a:solidFill>
              </a:defRPr>
            </a:pPr>
            <a:r>
              <a:t>  Frontline doorstep clinical screening and certified PHC referral.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• Beneficiary Registration: </a:t>
            </a:r>
          </a:p>
          <a:p>
            <a:pPr>
              <a:spcAft>
                <a:spcPts val="500"/>
              </a:spcAft>
              <a:defRPr sz="1100">
                <a:solidFill>
                  <a:srgbClr val="CBD5E1"/>
                </a:solidFill>
              </a:defRPr>
            </a:pPr>
            <a:r>
              <a:t>  Quick capture of Patient Name, Age, and Gender for clinical record.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• Vital Signs Gauges: </a:t>
            </a:r>
          </a:p>
          <a:p>
            <a:pPr>
              <a:spcAft>
                <a:spcPts val="500"/>
              </a:spcAft>
              <a:defRPr sz="1100">
                <a:solidFill>
                  <a:srgbClr val="CBD5E1"/>
                </a:solidFill>
              </a:defRPr>
            </a:pPr>
            <a:r>
              <a:t>  Optional input for Temperature (°F), Pulse (BPM), BP, and SpO2 (%).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• Prescription Scanner: </a:t>
            </a:r>
          </a:p>
          <a:p>
            <a:pPr>
              <a:spcAft>
                <a:spcPts val="500"/>
              </a:spcAft>
              <a:defRPr sz="1100">
                <a:solidFill>
                  <a:srgbClr val="CBD5E1"/>
                </a:solidFill>
              </a:defRPr>
            </a:pPr>
            <a:r>
              <a:t>  Laser-guided camera scan to digitize previous clinic prescriptions and reports.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• Official NHM Referral Slip: </a:t>
            </a:r>
          </a:p>
          <a:p>
            <a:pPr>
              <a:spcAft>
                <a:spcPts val="500"/>
              </a:spcAft>
              <a:defRPr sz="1100">
                <a:solidFill>
                  <a:srgbClr val="CBD5E1"/>
                </a:solidFill>
              </a:defRPr>
            </a:pPr>
            <a:r>
              <a:t>  Formats formatted slip with clinical reasons and recommended next steps.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• ASHA Sign-Off Badge: </a:t>
            </a:r>
          </a:p>
          <a:p>
            <a:pPr>
              <a:spcAft>
                <a:spcPts val="500"/>
              </a:spcAft>
              <a:defRPr sz="1100">
                <a:solidFill>
                  <a:srgbClr val="CBD5E1"/>
                </a:solidFill>
              </a:defRPr>
            </a:pPr>
            <a:r>
              <a:t>  Interactive 'Verified by ASHA ✓' verification that PHC doctors respect.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THE CLINICAL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End-to-End System Flow: From Voice Note to Referral Slip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Segoe UI"/>
              </a:defRPr>
            </a:pPr>
            <a:r>
              <a:t>5 / 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468880" cy="466344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00200"/>
            <a:ext cx="2194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4B8A6"/>
                </a:solidFill>
              </a:defRPr>
            </a:pPr>
            <a:r>
              <a:t>1. INTAKE</a:t>
            </a:r>
          </a:p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</a:defRPr>
            </a:pPr>
            <a:r>
              <a:t>🎤 Multimodal Intake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Voice Ingestion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Patient/ASHA records spoken complaint (or uploads audio).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Body Map Touch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Selects affected regions (Chest, Head, Stomach, Arms).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Document Scan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Optional doctor prescription photo uploaded for OCR.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Clinical Vitals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Temperature, Pulse, Blood Pressure, and Oxygen entered.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463040"/>
            <a:ext cx="2468880" cy="466344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600200"/>
            <a:ext cx="2194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F4444"/>
                </a:solidFill>
              </a:defRPr>
            </a:pPr>
            <a:r>
              <a:t>2. SAFETY GATE</a:t>
            </a:r>
          </a:p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</a:defRPr>
            </a:pPr>
            <a:r>
              <a:t>🚨 Deterministic Gate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Instant Keyword Match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Regex checks 15+ acute clinical red flags in &lt;100ms.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Zero LLM Latency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Chest pain, seizures, or hemorrhage bypass all AI models.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Direct Emergency Path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Immediate RED classification with 108 ambulance hotline.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Guaranteed Safety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100% eliminates LLM hallucinations on lethal conditions.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463040"/>
            <a:ext cx="2468880" cy="466344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00200"/>
            <a:ext cx="2194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3. AI REASONING</a:t>
            </a:r>
          </a:p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</a:defRPr>
            </a:pPr>
            <a:r>
              <a:t>🧠 Clinical Stratification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Gemini 2.5 Flash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Receives structured prompt with symptoms, map, vitals &amp; OCR.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WHO IMNCI Protocols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Stratifies into YELLOW (Consult PHC) or GREEN (Routine).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Explainable Reasons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Generates bulleted rationale and actionable home-care steps.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Dual Language Output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Returns structured text in English and Devanagari Hindi.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1463040"/>
            <a:ext cx="2468880" cy="466344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0" y="1600200"/>
            <a:ext cx="2194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4. DELIVERY</a:t>
            </a:r>
          </a:p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</a:defRPr>
            </a:pPr>
            <a:r>
              <a:t>🔊 Vernacular Action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Sarvam Bulbul TTS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Synthesizes native Indian voice advice in ~1.2 seconds.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Voice Player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Patient taps Play to listen to calm, reassuring audio guidance.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NHM Referral Slip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Structured medical summary ready to print or WhatsApp.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ASHA Verification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Frontline certification logged for Sub-Centre / PHC doctor.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TECHNICAL ARCHITECTURE &amp; APIS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Architectural Pipeline: Resilient Multi-Model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Segoe UI"/>
              </a:defRPr>
            </a:pPr>
            <a:r>
              <a:t>6 / 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86868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4475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4B8A6"/>
                </a:solidFill>
              </a:defRPr>
            </a:pPr>
            <a:r>
              <a:t>Layer 1: Edge Client UI  |  React 19 + TypeScript + Vite + Tailwind CSS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• Runs responsive PWA across low-end Android mobile devices and desktop browsers.</a:t>
            </a:r>
            <a:br/>
            <a:r>
              <a:t>• Local audio recording via Web Audio API with automatic WAV/WebM containerization.</a:t>
            </a:r>
            <a:br/>
            <a:r>
              <a:t>• Zero-dependency i18n localization engine supporting Hindi, Bengali, Telugu, Marathi, English.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31720"/>
            <a:ext cx="10728655" cy="86868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0487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366F1"/>
                </a:solidFill>
              </a:defRPr>
            </a:pPr>
            <a:r>
              <a:t>Layer 2: Serverless Gateway  |  Netlify Functions v2 (TypeScript Serverless)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• Stateless endpoints (/voice, /scan, /check) with CORS, rate-limiting, and error shielding.</a:t>
            </a:r>
            <a:br/>
            <a:r>
              <a:t>• Zero disk persistence: Audio buffers and OCR images processed ephemerally in RAM.</a:t>
            </a:r>
            <a:br/>
            <a:r>
              <a:t>• Environment credential isolation protecting Sarvam and Gemini API keys.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10728655" cy="86868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36499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Layer 3: Speech AI Engine  |  Sarvam Saaras v4 ASR ⇄ Gemini Multimodal Audio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• Primary: Sarvam Saaras v4 transcribes Hindi and Indic dialects with high acoustic accuracy.</a:t>
            </a:r>
            <a:br/>
            <a:r>
              <a:t>• Resilient Fallback: If Sarvam fails, Gemini Multimodal Audio transcribes code-mixed dialects.</a:t>
            </a:r>
            <a:br/>
            <a:r>
              <a:t>• Normalizes vernacular voice inputs into structured Hindi &amp; English text representations.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51960"/>
            <a:ext cx="10728655" cy="86868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32511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Layer 4: Vision &amp; Reasoning  |  Gemini Vision OCR ⇄ Gemini 2.5 Flash Clinical Triage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• High-speed multimodal OCR deciphers doctor handwriting, dosages, and patient notes.</a:t>
            </a:r>
            <a:br/>
            <a:r>
              <a:t>• Strict JSON schema output: Enforces {level, reasons, guidance, guidanceHindi, nextSteps}.</a:t>
            </a:r>
            <a:br/>
            <a:r>
              <a:t>• Multi-model retry ladder: Automatically cycles across Flash-Lite and Flash if rate-limited.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12080"/>
            <a:ext cx="10728655" cy="86868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8523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F4444"/>
                </a:solidFill>
              </a:defRPr>
            </a:pPr>
            <a:r>
              <a:t>Layer 5: Voice Synthesis  |  Sarvam Bulbul v3 TTS (Indic Audio Delivery)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• Generates natural Hindi speech ('priya' voice) from the AI's guidance text at pace 0.9.</a:t>
            </a:r>
            <a:br/>
            <a:r>
              <a:t>• Encodes audio stream into base64 payload delivered directly to client VoicePlayer component.</a:t>
            </a:r>
            <a:br/>
            <a:r>
              <a:t>• Average end-to-end synthesis roundtrip under 1.5 seconds.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CLINICAL SAFETY &amp; ETHICS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Deterministic Safety Gates: &lt;100ms Zero-Hallucination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Segoe UI"/>
              </a:defRPr>
            </a:pPr>
            <a:r>
              <a:t>7 / 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75504" cy="4663440"/>
          </a:xfrm>
          <a:prstGeom prst="roundRect">
            <a:avLst/>
          </a:prstGeom>
          <a:solidFill>
            <a:srgbClr val="121626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45920"/>
            <a:ext cx="462686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EF4444"/>
                </a:solidFill>
              </a:defRPr>
            </a:pPr>
            <a:r>
              <a:t>🛡️ Why Never Gamble with an LLM in Emergencies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✔ Probabilistic LLMs are Risky: 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  Even a 1% hallucination rate on an acute myocardial infarction or neonatal seizure can prove fatal in rural areas.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✔ Speed Matters in Sepsis &amp; Trauma: 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  Waiting 3-5 seconds for an LLM token generation is unacceptable when a patient is bleeding out or unconscious.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✔ Deterministic Regex Fast-Path: 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  AarogyaVani catches acute danger keywords in &lt;100ms and immediately halts further processing.</a:t>
            </a:r>
          </a:p>
          <a:p>
            <a:pPr>
              <a:defRPr b="1" sz="1200">
                <a:solidFill>
                  <a:srgbClr val="FFFFFF"/>
                </a:solidFill>
              </a:defRPr>
            </a:pPr>
            <a:r>
              <a:t>✔ Direct Ambulance Trigger: 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  Instantly locks UI to RED status, highlights 108 Hotline, and plays urgent spoken warning.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1463040"/>
            <a:ext cx="5175504" cy="466344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1E3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47104" y="1645920"/>
            <a:ext cx="462686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FFFFF"/>
                </a:solidFill>
              </a:defRPr>
            </a:pPr>
            <a:r>
              <a:t>📋 Acute Danger Sign Catalog (Bypasses LLM)</a:t>
            </a:r>
          </a:p>
          <a:p>
            <a:pPr>
              <a:defRPr b="1" sz="1100">
                <a:solidFill>
                  <a:srgbClr val="F59E0B"/>
                </a:solidFill>
              </a:defRPr>
            </a:pPr>
            <a:r>
              <a:t>• Chest Pain / Angina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  Keywords: "seene mein dard, chaati mein dard"</a:t>
            </a:r>
          </a:p>
          <a:p>
            <a:pPr>
              <a:spcAft>
                <a:spcPts val="400"/>
              </a:spcAft>
              <a:defRPr sz="1000" b="1">
                <a:solidFill>
                  <a:srgbClr val="EF4444"/>
                </a:solidFill>
              </a:defRPr>
            </a:pPr>
            <a:r>
              <a:t>  Action: 🔴 Immediate hospital transfer</a:t>
            </a:r>
          </a:p>
          <a:p>
            <a:pPr>
              <a:defRPr b="1" sz="1100">
                <a:solidFill>
                  <a:srgbClr val="F59E0B"/>
                </a:solidFill>
              </a:defRPr>
            </a:pPr>
            <a:r>
              <a:t>• Acute Dyspnea / Stridor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  Keywords: "saans nahi aa rahi, breathless, dum ghut raha"</a:t>
            </a:r>
          </a:p>
          <a:p>
            <a:pPr>
              <a:spcAft>
                <a:spcPts val="400"/>
              </a:spcAft>
              <a:defRPr sz="1000" b="1">
                <a:solidFill>
                  <a:srgbClr val="EF4444"/>
                </a:solidFill>
              </a:defRPr>
            </a:pPr>
            <a:r>
              <a:t>  Action: 🔴 Oxygen &amp; urgent ambulance</a:t>
            </a:r>
          </a:p>
          <a:p>
            <a:pPr>
              <a:defRPr b="1" sz="1100">
                <a:solidFill>
                  <a:srgbClr val="F59E0B"/>
                </a:solidFill>
              </a:defRPr>
            </a:pPr>
            <a:r>
              <a:t>• Loss of Consciousness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  Keywords: "behosh, hosh nahi, unresponsive"</a:t>
            </a:r>
          </a:p>
          <a:p>
            <a:pPr>
              <a:spcAft>
                <a:spcPts val="400"/>
              </a:spcAft>
              <a:defRPr sz="1000" b="1">
                <a:solidFill>
                  <a:srgbClr val="EF4444"/>
                </a:solidFill>
              </a:defRPr>
            </a:pPr>
            <a:r>
              <a:t>  Action: 🔴 Recovery position + 108 dispatch</a:t>
            </a:r>
          </a:p>
          <a:p>
            <a:pPr>
              <a:defRPr b="1" sz="1100">
                <a:solidFill>
                  <a:srgbClr val="F59E0B"/>
                </a:solidFill>
              </a:defRPr>
            </a:pPr>
            <a:r>
              <a:t>• Seizures / Convulsions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  Keywords: "daura, fits, mirgi, jhatke aana"</a:t>
            </a:r>
          </a:p>
          <a:p>
            <a:pPr>
              <a:spcAft>
                <a:spcPts val="400"/>
              </a:spcAft>
              <a:defRPr sz="1000" b="1">
                <a:solidFill>
                  <a:srgbClr val="EF4444"/>
                </a:solidFill>
              </a:defRPr>
            </a:pPr>
            <a:r>
              <a:t>  Action: 🔴 Protect airway + immediate transport</a:t>
            </a:r>
          </a:p>
          <a:p>
            <a:pPr>
              <a:defRPr b="1" sz="1100">
                <a:solidFill>
                  <a:srgbClr val="F59E0B"/>
                </a:solidFill>
              </a:defRPr>
            </a:pPr>
            <a:r>
              <a:t>• Severe Hemorrhage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  Keywords: "bahut khoon, heavy bleeding"</a:t>
            </a:r>
          </a:p>
          <a:p>
            <a:pPr>
              <a:spcAft>
                <a:spcPts val="400"/>
              </a:spcAft>
              <a:defRPr sz="1000" b="1">
                <a:solidFill>
                  <a:srgbClr val="EF4444"/>
                </a:solidFill>
              </a:defRPr>
            </a:pPr>
            <a:r>
              <a:t>  Action: 🔴 Direct pressure + emergency care</a:t>
            </a:r>
          </a:p>
          <a:p>
            <a:pPr>
              <a:defRPr b="1" sz="1100">
                <a:solidFill>
                  <a:srgbClr val="F59E0B"/>
                </a:solidFill>
              </a:defRPr>
            </a:pPr>
            <a:r>
              <a:t>• Pediatric Danger Signs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  Keywords: "unable to drink, lethargic child"</a:t>
            </a:r>
          </a:p>
          <a:p>
            <a:pPr>
              <a:spcAft>
                <a:spcPts val="400"/>
              </a:spcAft>
              <a:defRPr sz="1000" b="1">
                <a:solidFill>
                  <a:srgbClr val="EF4444"/>
                </a:solidFill>
              </a:defRPr>
            </a:pPr>
            <a:r>
              <a:t>  Action: 🔴 WHO IMNCI Red-alert referral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WHO IMNCI &amp; NHM TRIAGE TIERS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Clinical Risk Stratification: Red / Yellow / Green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Segoe UI"/>
              </a:defRPr>
            </a:pPr>
            <a:r>
              <a:t>8 / 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383280" cy="466344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EF4444"/>
                </a:solidFill>
              </a:defRPr>
            </a:pPr>
            <a:r>
              <a:t>🔴 RED: IMMEDIATE DANGER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Clinical Severity:</a:t>
            </a:r>
          </a:p>
          <a:p>
            <a:pPr>
              <a:spcAft>
                <a:spcPts val="800"/>
              </a:spcAft>
              <a:defRPr sz="1000">
                <a:solidFill>
                  <a:srgbClr val="CBD5E1"/>
                </a:solidFill>
              </a:defRPr>
            </a:pPr>
            <a:r>
              <a:t>  Life-threatening acute emergency requiring immediate intervention.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Trigger Conditions:</a:t>
            </a:r>
          </a:p>
          <a:p>
            <a:pPr>
              <a:spcAft>
                <a:spcPts val="800"/>
              </a:spcAft>
              <a:defRPr sz="1000">
                <a:solidFill>
                  <a:srgbClr val="CBD5E1"/>
                </a:solidFill>
              </a:defRPr>
            </a:pPr>
            <a:r>
              <a:t>  Chest pain, acute dyspnea, seizures, severe bleeding, altered consciousness.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System Protocol:</a:t>
            </a:r>
          </a:p>
          <a:p>
            <a:pPr>
              <a:spcAft>
                <a:spcPts val="800"/>
              </a:spcAft>
              <a:defRPr sz="1000">
                <a:solidFill>
                  <a:srgbClr val="CBD5E1"/>
                </a:solidFill>
              </a:defRPr>
            </a:pPr>
            <a:r>
              <a:t>  Bypasses LLM; locks screen to flashing red emergency card.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Action Required:</a:t>
            </a:r>
          </a:p>
          <a:p>
            <a:pPr>
              <a:spcAft>
                <a:spcPts val="800"/>
              </a:spcAft>
              <a:defRPr sz="1000">
                <a:solidFill>
                  <a:srgbClr val="CBD5E1"/>
                </a:solidFill>
              </a:defRPr>
            </a:pPr>
            <a:r>
              <a:t>  Instant 108 Ambulance dialer; immediate transfer to District Hospital / CHC.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383280" cy="466344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64592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59E0B"/>
                </a:solidFill>
              </a:defRPr>
            </a:pPr>
            <a:r>
              <a:t>🟡 YELLOW: NEEDS ATTENTION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Clinical Severity:</a:t>
            </a:r>
          </a:p>
          <a:p>
            <a:pPr>
              <a:spcAft>
                <a:spcPts val="800"/>
              </a:spcAft>
              <a:defRPr sz="1000">
                <a:solidFill>
                  <a:srgbClr val="CBD5E1"/>
                </a:solidFill>
              </a:defRPr>
            </a:pPr>
            <a:r>
              <a:t>  Moderate clinical illness; self-care insufficient; medical evaluation needed.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Trigger Conditions:</a:t>
            </a:r>
          </a:p>
          <a:p>
            <a:pPr>
              <a:spcAft>
                <a:spcPts val="800"/>
              </a:spcAft>
              <a:defRPr sz="1000">
                <a:solidFill>
                  <a:srgbClr val="CBD5E1"/>
                </a:solidFill>
              </a:defRPr>
            </a:pPr>
            <a:r>
              <a:t>  Persistent high fever &gt;3 days, productive cough, localized abdominal pain.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System Protocol:</a:t>
            </a:r>
          </a:p>
          <a:p>
            <a:pPr>
              <a:spcAft>
                <a:spcPts val="800"/>
              </a:spcAft>
              <a:defRPr sz="1000">
                <a:solidFill>
                  <a:srgbClr val="CBD5E1"/>
                </a:solidFill>
              </a:defRPr>
            </a:pPr>
            <a:r>
              <a:t>  Gemini 2.5 Flash analyzes vitals + symptoms + prescription context.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Action Required:</a:t>
            </a:r>
          </a:p>
          <a:p>
            <a:pPr>
              <a:spcAft>
                <a:spcPts val="800"/>
              </a:spcAft>
              <a:defRPr sz="1000">
                <a:solidFill>
                  <a:srgbClr val="CBD5E1"/>
                </a:solidFill>
              </a:defRPr>
            </a:pPr>
            <a:r>
              <a:t>  Visit nearest Primary Health Centre (PHC) within 24–48 hours; monitor vitals.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463040"/>
            <a:ext cx="3383280" cy="466344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64592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10B981"/>
                </a:solidFill>
              </a:defRPr>
            </a:pPr>
            <a:r>
              <a:t>🟢 GREEN: ROUTINE / STABLE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Clinical Severity:</a:t>
            </a:r>
          </a:p>
          <a:p>
            <a:pPr>
              <a:spcAft>
                <a:spcPts val="800"/>
              </a:spcAft>
              <a:defRPr sz="1000">
                <a:solidFill>
                  <a:srgbClr val="CBD5E1"/>
                </a:solidFill>
              </a:defRPr>
            </a:pPr>
            <a:r>
              <a:t>  Mild, self-limiting condition suitable for home monitoring.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Trigger Conditions:</a:t>
            </a:r>
          </a:p>
          <a:p>
            <a:pPr>
              <a:spcAft>
                <a:spcPts val="800"/>
              </a:spcAft>
              <a:defRPr sz="1000">
                <a:solidFill>
                  <a:srgbClr val="CBD5E1"/>
                </a:solidFill>
              </a:defRPr>
            </a:pPr>
            <a:r>
              <a:t>  Mild cold, seasonal runny nose, minor fatigue with normal vital signs.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System Protocol:</a:t>
            </a:r>
          </a:p>
          <a:p>
            <a:pPr>
              <a:spcAft>
                <a:spcPts val="800"/>
              </a:spcAft>
              <a:defRPr sz="1000">
                <a:solidFill>
                  <a:srgbClr val="CBD5E1"/>
                </a:solidFill>
              </a:defRPr>
            </a:pPr>
            <a:r>
              <a:t>  Provides structured home remedies and clear warning signs for return.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Action Required:</a:t>
            </a:r>
          </a:p>
          <a:p>
            <a:pPr>
              <a:spcAft>
                <a:spcPts val="800"/>
              </a:spcAft>
              <a:defRPr sz="1000">
                <a:solidFill>
                  <a:srgbClr val="CBD5E1"/>
                </a:solidFill>
              </a:defRPr>
            </a:pPr>
            <a:r>
              <a:t>  Adequate hydration, rest, ORS if diarrhea; re-triage if fever escalates.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ACCESSIBILITY FOR 850M+ CITIZENS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Vernacular Localization &amp; Low-Literacy Inclusivity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Segoe UI"/>
              </a:defRPr>
            </a:pPr>
            <a:r>
              <a:t>9 / 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75504" cy="466344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45920"/>
            <a:ext cx="462686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4B8A6"/>
                </a:solidFill>
              </a:defRPr>
            </a:pPr>
            <a:r>
              <a:t>🌐 5-Language Instant Translation Engine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✔ 🇮🇳 Hindi (हिंदी) - DEFAULT</a:t>
            </a:r>
          </a:p>
          <a:p>
            <a:pPr>
              <a:spcAft>
                <a:spcPts val="400"/>
              </a:spcAft>
              <a:defRPr sz="1000">
                <a:solidFill>
                  <a:srgbClr val="CBD5E1"/>
                </a:solidFill>
              </a:defRPr>
            </a:pPr>
            <a:r>
              <a:t>   Primary national language for Northern and Central states.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✔ 🇬🇧 English (English)</a:t>
            </a:r>
          </a:p>
          <a:p>
            <a:pPr>
              <a:spcAft>
                <a:spcPts val="400"/>
              </a:spcAft>
              <a:defRPr sz="1000">
                <a:solidFill>
                  <a:srgbClr val="CBD5E1"/>
                </a:solidFill>
              </a:defRPr>
            </a:pPr>
            <a:r>
              <a:t>   Designed for clinicians, urban citizens, and hackathon evaluators.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✔ 🇮🇳 Bengali (বাংলা)</a:t>
            </a:r>
          </a:p>
          <a:p>
            <a:pPr>
              <a:spcAft>
                <a:spcPts val="400"/>
              </a:spcAft>
              <a:defRPr sz="1000">
                <a:solidFill>
                  <a:srgbClr val="CBD5E1"/>
                </a:solidFill>
              </a:defRPr>
            </a:pPr>
            <a:r>
              <a:t>   Frontline language coverage for West Bengal, Tripura, and Assam.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✔ 🇮🇳 Telugu (తెలుగు)</a:t>
            </a:r>
          </a:p>
          <a:p>
            <a:pPr>
              <a:spcAft>
                <a:spcPts val="400"/>
              </a:spcAft>
              <a:defRPr sz="1000">
                <a:solidFill>
                  <a:srgbClr val="CBD5E1"/>
                </a:solidFill>
              </a:defRPr>
            </a:pPr>
            <a:r>
              <a:t>   Community health coverage for Andhra Pradesh and Telangana.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✔ 🇮🇳 Marathi (मराठी)</a:t>
            </a:r>
          </a:p>
          <a:p>
            <a:pPr>
              <a:spcAft>
                <a:spcPts val="400"/>
              </a:spcAft>
              <a:defRPr sz="1000">
                <a:solidFill>
                  <a:srgbClr val="CBD5E1"/>
                </a:solidFill>
              </a:defRPr>
            </a:pPr>
            <a:r>
              <a:t>   Field language coverage for Maharashtra PHCs and sub-centres.</a:t>
            </a:r>
          </a:p>
          <a:p>
            <a:pPr>
              <a:defRPr sz="1100" b="1">
                <a:solidFill>
                  <a:srgbClr val="10B981"/>
                </a:solidFill>
              </a:defRPr>
            </a:pPr>
            <a:r>
              <a:t>💡 Compact Header Switcher: Instant client-side state toggle with zero network latency and zero page reloads.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1463040"/>
            <a:ext cx="5175504" cy="466344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47104" y="1645920"/>
            <a:ext cx="462686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🫀 Low-Literacy Inclusive Design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✔ Touch-Based Body Map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 Villagers unable to read or name organs simply tap where it hurts (Head, Chest, Stomach, Arms, Legs, Back).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✔ Audio-In, Audio-Out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 Illiterate patients don't have to decipher text — symptoms are spoken in, and guidance is spoken out.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✔ Cognitive Color Coding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 Bold Red, Amber, and Green shield badges communicate urgency without requiring textual comprehension.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✔ Acoustic Recording Feedback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 Pulsing concentric wave rings and equalizer bars give visual confidence that voice is being recorded.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VISION AI &amp; DOCUMENT 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Multimodal Prescription OCR &amp; Document Digitization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Segoe UI"/>
              </a:defRPr>
            </a:pPr>
            <a:r>
              <a:t>10 / 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75504" cy="466344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45920"/>
            <a:ext cx="462686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📸 The Rural Prescription Nightmare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Illegible Doctor Cursive: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Rural patients carry crumpled paper slips with illegible handwritten dosages and drug names.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Lost Medical History: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Villagers lose paper slips between clinic visits, forcing doctors to guess past treatments.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Dangerous Drug Interactions: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ASHAs cannot decipher whether a patient is already taking Paracetamol, Antibiotics, or BP pills.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Multimodal Vision Extraction: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AarogyaVani allows ASHAs to snap a photo; Gemini Vision extracts medicines, dosages, and notes in &lt;2s.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1463040"/>
            <a:ext cx="5175504" cy="466344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47104" y="1645920"/>
            <a:ext cx="462686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4B8A6"/>
                </a:solidFill>
              </a:defRPr>
            </a:pPr>
            <a:r>
              <a:t>⚙️ Two-Tier Vision OCR &amp; Verification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✔ Tier 1: Gemini Multimodal Vision: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Processes raw images directly; deciphers Latin medical abbreviations (e.g., 'Tab PCM 500mg TDS', 'Amox 250 BD').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✔ Tier 2: Sarvam Doc-AI Fallback: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If Gemini is unavailable, automatically routes to Sarvam Doc-AI digitise API for Indic document parsing.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✔ Animated Laser UI Scanner: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Green laser beam animation visually confirms image analysis on low-cost devices.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✔ Human-in-the-Loop Correction:</a:t>
            </a:r>
          </a:p>
          <a:p>
            <a:pPr>
              <a:spcAft>
                <a:spcPts val="600"/>
              </a:spcAft>
              <a:defRPr sz="1000">
                <a:solidFill>
                  <a:srgbClr val="CBD5E1"/>
                </a:solidFill>
              </a:defRPr>
            </a:pPr>
            <a:r>
              <a:t>  Extracted text appears in an editable field. ASHA can correct misspelled patient names before triage.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IMPACT &amp; PUBLIC HEALTH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Real-World Impact &amp; National Health Mission Alignment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Segoe UI"/>
              </a:defRPr>
            </a:pPr>
            <a:r>
              <a:t>11 / 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328416" cy="201168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296265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B981"/>
                </a:solidFill>
              </a:defRPr>
            </a:pPr>
            <a:r>
              <a:t>⚡ &lt;100ms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Emergency Response Time</a:t>
            </a:r>
            <a:br/>
            <a:r>
              <a:t>Instant client-side red-flag detection catches cardiac &amp; respiratory crises immediately.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463040"/>
            <a:ext cx="3328416" cy="201168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1600200"/>
            <a:ext cx="296265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B8A6"/>
                </a:solidFill>
              </a:defRPr>
            </a:pPr>
            <a:r>
              <a:t>📉 70-80%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Reduction in Unnecessary Travel</a:t>
            </a:r>
            <a:br/>
            <a:r>
              <a:t>Prevents impoverished villagers from making 40km hospital trips for mild self-limiting colds.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463040"/>
            <a:ext cx="3328416" cy="201168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1600200"/>
            <a:ext cx="296265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9E0B"/>
                </a:solidFill>
              </a:defRPr>
            </a:pPr>
            <a:r>
              <a:t>📋 100%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Standardized Referrals</a:t>
            </a:r>
            <a:br/>
            <a:r>
              <a:t>Eliminates vague verbal handoffs; PHC doctors receive structured clinical history &amp; vitals.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49039"/>
            <a:ext cx="10728655" cy="2377440"/>
          </a:xfrm>
          <a:prstGeom prst="roundRect">
            <a:avLst/>
          </a:prstGeom>
          <a:solidFill>
            <a:srgbClr val="0E182A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886200"/>
            <a:ext cx="10149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</a:defRPr>
            </a:pPr>
            <a:r>
              <a:t>🏛️ Alignment with Indian Government Digital Health Missions</a:t>
            </a:r>
          </a:p>
          <a:p>
            <a:pPr>
              <a:defRPr b="1" sz="1100">
                <a:solidFill>
                  <a:srgbClr val="10B981"/>
                </a:solidFill>
              </a:defRPr>
            </a:pPr>
            <a:r>
              <a:t>✔ National Health Mission (NHM): 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   Adheres to ASHA doorstep screening protocols and WHO IMNCI clinical guidelines.</a:t>
            </a:r>
          </a:p>
          <a:p>
            <a:pPr>
              <a:defRPr b="1" sz="1100">
                <a:solidFill>
                  <a:srgbClr val="10B981"/>
                </a:solidFill>
              </a:defRPr>
            </a:pPr>
            <a:r>
              <a:t>✔ Ayushman Bharat Digital Mission (ABDM): 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   Designed for seamless linkage to 14-digit ABHA IDs for longitudinal electronic health records.</a:t>
            </a:r>
          </a:p>
          <a:p>
            <a:pPr>
              <a:defRPr b="1" sz="1100">
                <a:solidFill>
                  <a:srgbClr val="10B981"/>
                </a:solidFill>
              </a:defRPr>
            </a:pPr>
            <a:r>
              <a:t>✔ Bhashini &amp; Digital India: </a:t>
            </a:r>
          </a:p>
          <a:p>
            <a:pPr>
              <a:defRPr sz="1000">
                <a:solidFill>
                  <a:srgbClr val="CBD5E1"/>
                </a:solidFill>
              </a:defRPr>
            </a:pPr>
            <a:r>
              <a:t>   Demonstrates sovereign AI capability using native Indian speech models and regional scripts.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THE FUTURE OF RURAL HEALTHTECH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Roadmap, Scalability &amp;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Segoe UI"/>
              </a:defRPr>
            </a:pPr>
            <a:r>
              <a:t>12 / 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75504" cy="4663440"/>
          </a:xfrm>
          <a:prstGeom prst="roundRect">
            <a:avLst/>
          </a:prstGeom>
          <a:solidFill>
            <a:srgbClr val="111C30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45920"/>
            <a:ext cx="462686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4B8A6"/>
                </a:solidFill>
              </a:defRPr>
            </a:pPr>
            <a:r>
              <a:t>🚀 Future Roadmap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1. Offline-First PWA (WASM)</a:t>
            </a:r>
          </a:p>
          <a:p>
            <a:pPr>
              <a:spcAft>
                <a:spcPts val="800"/>
              </a:spcAft>
              <a:defRPr sz="1000">
                <a:solidFill>
                  <a:srgbClr val="CBD5E1"/>
                </a:solidFill>
              </a:defRPr>
            </a:pPr>
            <a:r>
              <a:t>  Embedding lightweight on-device speech models (Whisper TFLite/WASM) for zero-connectivity jungle &amp; hill terrain.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2. ABHA ID Integration</a:t>
            </a:r>
          </a:p>
          <a:p>
            <a:pPr>
              <a:spcAft>
                <a:spcPts val="800"/>
              </a:spcAft>
              <a:defRPr sz="1000">
                <a:solidFill>
                  <a:srgbClr val="CBD5E1"/>
                </a:solidFill>
              </a:defRPr>
            </a:pPr>
            <a:r>
              <a:t>  One-click generation and verification of 14-digit Ayushman Bharat Health Account IDs.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3. Automated PHC WhatsApp Alert</a:t>
            </a:r>
          </a:p>
          <a:p>
            <a:pPr>
              <a:spcAft>
                <a:spcPts val="800"/>
              </a:spcAft>
              <a:defRPr sz="1000">
                <a:solidFill>
                  <a:srgbClr val="CBD5E1"/>
                </a:solidFill>
              </a:defRPr>
            </a:pPr>
            <a:r>
              <a:t>  Instantly dispatches digitized referral slip to the on-duty PHC Medical Officer ahead of patient arrival.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• 4. Epidemiological Heatmapping</a:t>
            </a:r>
          </a:p>
          <a:p>
            <a:pPr>
              <a:spcAft>
                <a:spcPts val="800"/>
              </a:spcAft>
              <a:defRPr sz="1000">
                <a:solidFill>
                  <a:srgbClr val="CBD5E1"/>
                </a:solidFill>
              </a:defRPr>
            </a:pPr>
            <a:r>
              <a:t>  Anonymized aggregation of symptom clusters for district-level outbreak detection (e.g., Dengue, Malaria).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1463040"/>
            <a:ext cx="5175504" cy="4663440"/>
          </a:xfrm>
          <a:prstGeom prst="roundRect">
            <a:avLst/>
          </a:prstGeom>
          <a:solidFill>
            <a:srgbClr val="0E192D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47104" y="1645920"/>
            <a:ext cx="462686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0B981"/>
                </a:solidFill>
              </a:defRPr>
            </a:pPr>
            <a:r>
              <a:t>🌟 Key Takeaways for Judges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✔ Built for the Real India</a:t>
            </a:r>
          </a:p>
          <a:p>
            <a:pPr>
              <a:spcAft>
                <a:spcPts val="800"/>
              </a:spcAft>
              <a:defRPr sz="1000">
                <a:solidFill>
                  <a:srgbClr val="CBD5E1"/>
                </a:solidFill>
              </a:defRPr>
            </a:pPr>
            <a:r>
              <a:t>   Engineered specifically for low-literacy rural patients and overburdened ASHA workers.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✔ Safety is Uncompromised</a:t>
            </a:r>
          </a:p>
          <a:p>
            <a:pPr>
              <a:spcAft>
                <a:spcPts val="800"/>
              </a:spcAft>
              <a:defRPr sz="1000">
                <a:solidFill>
                  <a:srgbClr val="CBD5E1"/>
                </a:solidFill>
              </a:defRPr>
            </a:pPr>
            <a:r>
              <a:t>   Deterministic gates ensure 100% zero-hallucination handling of acute medical emergencies.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✔ Production-Ready &amp; Tested</a:t>
            </a:r>
          </a:p>
          <a:p>
            <a:pPr>
              <a:spcAft>
                <a:spcPts val="800"/>
              </a:spcAft>
              <a:defRPr sz="1000">
                <a:solidFill>
                  <a:srgbClr val="CBD5E1"/>
                </a:solidFill>
              </a:defRPr>
            </a:pPr>
            <a:r>
              <a:t>   Fully functional React 19 app, serverless endpoints, and passed E2E automated test suite.</a:t>
            </a:r>
          </a:p>
          <a:p>
            <a:pPr>
              <a:defRPr b="1" sz="1100">
                <a:solidFill>
                  <a:srgbClr val="FFFFFF"/>
                </a:solidFill>
              </a:defRPr>
            </a:pPr>
            <a:r>
              <a:t>✔ Open-Source &amp; Extensible</a:t>
            </a:r>
          </a:p>
          <a:p>
            <a:pPr>
              <a:spcAft>
                <a:spcPts val="800"/>
              </a:spcAft>
              <a:defRPr sz="1000">
                <a:solidFill>
                  <a:srgbClr val="CBD5E1"/>
                </a:solidFill>
              </a:defRPr>
            </a:pPr>
            <a:r>
              <a:t>   Codebase published on GitHub with complete documentation and architecture whitepaper.</a:t>
            </a:r>
          </a:p>
          <a:p>
            <a:pPr>
              <a:defRPr sz="1100" b="1">
                <a:solidFill>
                  <a:srgbClr val="14B8A6"/>
                </a:solidFill>
              </a:defRPr>
            </a:pPr>
            <a:r>
              <a:t>Repository: github.com/Prashantispacific/AROGYAVANI</a:t>
            </a:r>
            <a:br/>
            <a:r>
              <a:t>Team LocalHost Boys • GDG HBTU • Bit N Build '26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